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  <p:sldMasterId id="2147483698" r:id="rId2"/>
  </p:sldMasterIdLst>
  <p:notesMasterIdLst>
    <p:notesMasterId r:id="rId17"/>
  </p:notesMasterIdLst>
  <p:sldIdLst>
    <p:sldId id="258" r:id="rId3"/>
    <p:sldId id="283" r:id="rId4"/>
    <p:sldId id="284" r:id="rId5"/>
    <p:sldId id="285" r:id="rId6"/>
    <p:sldId id="286" r:id="rId7"/>
    <p:sldId id="287" r:id="rId8"/>
    <p:sldId id="292" r:id="rId9"/>
    <p:sldId id="288" r:id="rId10"/>
    <p:sldId id="289" r:id="rId11"/>
    <p:sldId id="293" r:id="rId12"/>
    <p:sldId id="294" r:id="rId13"/>
    <p:sldId id="295" r:id="rId14"/>
    <p:sldId id="290" r:id="rId15"/>
    <p:sldId id="291" r:id="rId16"/>
  </p:sldIdLst>
  <p:sldSz cx="12192000" cy="6858000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BEE"/>
    <a:srgbClr val="0061AF"/>
    <a:srgbClr val="8F9092"/>
    <a:srgbClr val="0055BB"/>
    <a:srgbClr val="FF7300"/>
    <a:srgbClr val="E46C2A"/>
    <a:srgbClr val="DDDEDE"/>
    <a:srgbClr val="222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97"/>
  </p:normalViewPr>
  <p:slideViewPr>
    <p:cSldViewPr snapToGrid="0" showGuides="1">
      <p:cViewPr varScale="1">
        <p:scale>
          <a:sx n="108" d="100"/>
          <a:sy n="108" d="100"/>
        </p:scale>
        <p:origin x="654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A4F82-DAF8-4DB7-B5B2-598342E61993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FFB7BE-5EBF-4EF0-84AC-5C073E1E44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74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9"/>
            <a:ext cx="35779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05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05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1" y="1269810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2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1" y="6296029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4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4" y="412962"/>
            <a:ext cx="11081567" cy="4154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1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4" y="1729295"/>
            <a:ext cx="134844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2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05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6"/>
            <a:ext cx="1649811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1" y="1269810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1" y="6296029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4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3" y="412962"/>
            <a:ext cx="9199891" cy="4154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1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9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4" y="1729295"/>
            <a:ext cx="134844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2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05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6"/>
            <a:ext cx="1649811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9"/>
            <a:ext cx="35779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05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05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3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1" y="1269810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1" y="6296029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4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4" y="412962"/>
            <a:ext cx="9173513" cy="4154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1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4" y="1729295"/>
            <a:ext cx="134844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2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05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6"/>
            <a:ext cx="1649811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9"/>
            <a:ext cx="35779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05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05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1" y="1269810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1" y="6296029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4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5" y="412962"/>
            <a:ext cx="8900951" cy="4154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1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4" y="1729295"/>
            <a:ext cx="134844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2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05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6"/>
            <a:ext cx="1649811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7" y="-135287"/>
            <a:ext cx="2376075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9"/>
            <a:ext cx="35779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05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05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1" y="1269810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1" y="6296029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4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4" y="412962"/>
            <a:ext cx="9032836" cy="4154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1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4" y="1729295"/>
            <a:ext cx="134844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2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05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6"/>
            <a:ext cx="1649811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7" y="-144001"/>
            <a:ext cx="2376075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9"/>
            <a:ext cx="35779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05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05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7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5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6" y="6083856"/>
            <a:ext cx="1649811" cy="300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35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6" y="2567227"/>
            <a:ext cx="2694755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7" y="3198171"/>
            <a:ext cx="2936041" cy="5078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27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00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35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7"/>
            <a:ext cx="2694755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9" y="3198171"/>
            <a:ext cx="2936041" cy="5078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27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69250"/>
            <a:ext cx="5886995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7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7" y="3105838"/>
            <a:ext cx="2936041" cy="5078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27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4210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0390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5542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23517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56155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4166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46771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14391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98049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22475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41256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7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5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6" y="6083856"/>
            <a:ext cx="1649811" cy="300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35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6" y="2567227"/>
            <a:ext cx="2694755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7" y="3198171"/>
            <a:ext cx="2936041" cy="5078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27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314614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3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1" y="1269810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1" y="6296029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4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4" y="412962"/>
            <a:ext cx="9173513" cy="415498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1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4" y="1729295"/>
            <a:ext cx="134844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2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05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6"/>
            <a:ext cx="1649811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9"/>
            <a:ext cx="35779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05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05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455817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hf sldNum="0"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79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/>
          <p:cNvSpPr>
            <a:spLocks noGrp="1"/>
          </p:cNvSpPr>
          <p:nvPr>
            <p:ph type="body" sz="quarter" idx="11"/>
          </p:nvPr>
        </p:nvSpPr>
        <p:spPr>
          <a:xfrm>
            <a:off x="586005" y="4226526"/>
            <a:ext cx="5814795" cy="2031325"/>
          </a:xfrm>
        </p:spPr>
        <p:txBody>
          <a:bodyPr/>
          <a:lstStyle/>
          <a:p>
            <a:pPr lvl="0">
              <a:spcAft>
                <a:spcPts val="0"/>
              </a:spcAft>
              <a:buClr>
                <a:srgbClr val="A5A5A5"/>
              </a:buClr>
              <a:buSzPts val="1500"/>
            </a:pPr>
            <a:r>
              <a:rPr lang="ru-RU" sz="1800" dirty="0">
                <a:solidFill>
                  <a:srgbClr val="7F7F7F"/>
                </a:solidFill>
              </a:rPr>
              <a:t>Студент: Панченков А.Л., группа ИВТ-42Д</a:t>
            </a:r>
          </a:p>
          <a:p>
            <a:pPr lvl="0">
              <a:spcAft>
                <a:spcPts val="0"/>
              </a:spcAft>
              <a:buClr>
                <a:srgbClr val="A5A5A5"/>
              </a:buClr>
              <a:buSzPts val="1500"/>
            </a:pPr>
            <a:r>
              <a:rPr lang="ru-RU" sz="1800" dirty="0">
                <a:solidFill>
                  <a:srgbClr val="7F7F7F"/>
                </a:solidFill>
              </a:rPr>
              <a:t>Руководитель: Дегтянников И.В.,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инженер-программист 2 категории</a:t>
            </a:r>
            <a:r>
              <a:rPr lang="ru-RU" sz="1800" dirty="0">
                <a:solidFill>
                  <a:srgbClr val="7F7F7F"/>
                </a:solidFill>
              </a:rPr>
              <a:t>, Отдел </a:t>
            </a:r>
            <a:r>
              <a:rPr lang="ru-RU" sz="1800" dirty="0" err="1">
                <a:solidFill>
                  <a:srgbClr val="7F7F7F"/>
                </a:solidFill>
              </a:rPr>
              <a:t>УИТиС</a:t>
            </a:r>
            <a:r>
              <a:rPr lang="ru-RU" sz="1800" dirty="0">
                <a:solidFill>
                  <a:srgbClr val="7F7F7F"/>
                </a:solidFill>
              </a:rPr>
              <a:t> «Комбинат «Электрохимприбор»</a:t>
            </a:r>
          </a:p>
          <a:p>
            <a:pPr lvl="0">
              <a:spcAft>
                <a:spcPts val="0"/>
              </a:spcAft>
              <a:buClr>
                <a:srgbClr val="A5A5A5"/>
              </a:buClr>
              <a:buSzPts val="1500"/>
            </a:pPr>
            <a:endParaRPr lang="ru-RU" sz="1800" dirty="0">
              <a:solidFill>
                <a:srgbClr val="7F7F7F"/>
              </a:solidFill>
            </a:endParaRPr>
          </a:p>
          <a:p>
            <a:pPr lvl="0">
              <a:spcAft>
                <a:spcPts val="0"/>
              </a:spcAft>
              <a:buClr>
                <a:srgbClr val="A5A5A5"/>
              </a:buClr>
              <a:buSzPts val="1500"/>
            </a:pPr>
            <a:r>
              <a:rPr lang="ru-RU" sz="1800" dirty="0">
                <a:solidFill>
                  <a:srgbClr val="7F7F7F"/>
                </a:solidFill>
              </a:rPr>
              <a:t>ТИ НИЯУ МИФИ</a:t>
            </a:r>
          </a:p>
          <a:p>
            <a:pPr lvl="0">
              <a:spcAft>
                <a:spcPts val="0"/>
              </a:spcAft>
              <a:buClr>
                <a:srgbClr val="A5A5A5"/>
              </a:buClr>
              <a:buSzPts val="1500"/>
            </a:pPr>
            <a:r>
              <a:rPr lang="ru-RU" sz="1800" dirty="0">
                <a:solidFill>
                  <a:srgbClr val="7F7F7F"/>
                </a:solidFill>
              </a:rPr>
              <a:t>2026 год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2"/>
          </p:nvPr>
        </p:nvSpPr>
        <p:spPr>
          <a:xfrm>
            <a:off x="186510" y="2861087"/>
            <a:ext cx="10645413" cy="954107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rgbClr val="0055B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 проекта</a:t>
            </a:r>
            <a:r>
              <a:rPr lang="en-US" sz="2800" dirty="0">
                <a:solidFill>
                  <a:srgbClr val="0055B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800" dirty="0">
                <a:solidFill>
                  <a:srgbClr val="0055B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Разработка приложения «Электронный архив механосборочного цеха» </a:t>
            </a:r>
            <a:endParaRPr lang="ru-RU" sz="2800" b="1" dirty="0">
              <a:solidFill>
                <a:srgbClr val="0055BB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66700" y="230909"/>
            <a:ext cx="3190875" cy="2293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9BFA03-5C56-F120-9BA0-148CE866D3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4" t="2851" r="24260" b="6526"/>
          <a:stretch/>
        </p:blipFill>
        <p:spPr>
          <a:xfrm>
            <a:off x="266700" y="430319"/>
            <a:ext cx="2341620" cy="174653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410" y="703221"/>
            <a:ext cx="1973586" cy="120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723" y="106114"/>
            <a:ext cx="2362246" cy="975055"/>
          </a:xfrm>
          <a:prstGeom prst="rect">
            <a:avLst/>
          </a:prstGeom>
        </p:spPr>
      </p:pic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559573" y="1755928"/>
            <a:ext cx="11443396" cy="3003386"/>
          </a:xfrm>
        </p:spPr>
        <p:txBody>
          <a:bodyPr/>
          <a:lstStyle/>
          <a:p>
            <a:r>
              <a:rPr lang="ru-RU" sz="2000" dirty="0"/>
              <a:t>Проблема:</a:t>
            </a:r>
            <a:endParaRPr lang="ru-RU" sz="2000" b="0" dirty="0"/>
          </a:p>
          <a:p>
            <a:pPr marL="914400" lvl="1" indent="-457200">
              <a:buFont typeface="+mj-lt"/>
              <a:buAutoNum type="arabicPeriod"/>
            </a:pPr>
            <a:r>
              <a:rPr lang="ru-RU" sz="2000" dirty="0"/>
              <a:t>Устаревшая система на базе MS Access + MySQL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/>
              <a:t>Зависимость от зарубежного ПО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/>
              <a:t>Технические ограничения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/>
              <a:t>Отсутствие автоматического аудита</a:t>
            </a:r>
          </a:p>
          <a:p>
            <a:r>
              <a:rPr lang="ru-RU" sz="2000" dirty="0"/>
              <a:t>Актуальность:</a:t>
            </a:r>
            <a:endParaRPr lang="ru-RU" sz="2000" b="0" dirty="0"/>
          </a:p>
          <a:p>
            <a:pPr marL="914400" lvl="1" indent="-457200">
              <a:buFont typeface="+mj-lt"/>
              <a:buAutoNum type="arabicPeriod"/>
            </a:pPr>
            <a:r>
              <a:rPr lang="ru-RU" sz="2000" dirty="0"/>
              <a:t>Требования Росатома к импортозамещению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/>
              <a:t>Необходимость перехода на Astra Linux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и проблематика</a:t>
            </a:r>
          </a:p>
        </p:txBody>
      </p:sp>
    </p:spTree>
    <p:extLst>
      <p:ext uri="{BB962C8B-B14F-4D97-AF65-F5344CB8AC3E}">
        <p14:creationId xmlns:p14="http://schemas.microsoft.com/office/powerpoint/2010/main" val="1214069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403C6B-D226-AF18-10EF-BD95B9E6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Объект, предмет и цель работы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186BB6-C789-DA6E-CC96-90248C8D48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4" y="1729295"/>
            <a:ext cx="11247727" cy="3552254"/>
          </a:xfrm>
        </p:spPr>
        <p:txBody>
          <a:bodyPr/>
          <a:lstStyle/>
          <a:p>
            <a:r>
              <a:rPr lang="ru-RU" sz="2400" dirty="0"/>
              <a:t>Объект:</a:t>
            </a:r>
            <a:r>
              <a:rPr lang="ru-RU" sz="2400" b="0" dirty="0"/>
              <a:t> Деятельность механосборочного цеха ФГУП «Комбинат «Электрохимприбор» по работе с технической документацией</a:t>
            </a:r>
          </a:p>
          <a:p>
            <a:endParaRPr lang="ru-RU" sz="2400" b="0" dirty="0"/>
          </a:p>
          <a:p>
            <a:r>
              <a:rPr lang="ru-RU" sz="2400" dirty="0"/>
              <a:t>Предмет:</a:t>
            </a:r>
            <a:r>
              <a:rPr lang="ru-RU" sz="2400" b="0" dirty="0"/>
              <a:t> Процесс организации электронного архива метаданных документов</a:t>
            </a:r>
            <a:r>
              <a:rPr lang="en-US" sz="2400" b="0" dirty="0"/>
              <a:t>,</a:t>
            </a:r>
            <a:r>
              <a:rPr lang="ru-RU" sz="2400" b="0" dirty="0"/>
              <a:t> извещений</a:t>
            </a:r>
            <a:r>
              <a:rPr lang="en-US" sz="2400" b="0" dirty="0"/>
              <a:t>,</a:t>
            </a:r>
            <a:r>
              <a:rPr lang="ru-RU" sz="2400" b="0" dirty="0"/>
              <a:t> деталей</a:t>
            </a:r>
          </a:p>
          <a:p>
            <a:endParaRPr lang="ru-RU" sz="2400" dirty="0"/>
          </a:p>
          <a:p>
            <a:r>
              <a:rPr lang="ru-RU" sz="2400" dirty="0"/>
              <a:t>Цель:</a:t>
            </a:r>
            <a:r>
              <a:rPr lang="ru-RU" sz="2400" b="0" dirty="0"/>
              <a:t> Разработка десктопного приложения «Электронный архив для механосборочного цеха»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5743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B5882A-4929-DEB2-F5B3-F7B69260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существующего решения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E1CB06-B8AE-AE15-D3E9-6B9E60476A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4" y="1729295"/>
            <a:ext cx="7501350" cy="972061"/>
          </a:xfrm>
        </p:spPr>
        <p:txBody>
          <a:bodyPr/>
          <a:lstStyle/>
          <a:p>
            <a:r>
              <a:rPr lang="ru-RU" sz="2650" b="0" dirty="0">
                <a:solidFill>
                  <a:srgbClr val="00BBEE"/>
                </a:solidFill>
              </a:rPr>
              <a:t>Недостатки существующего ПО</a:t>
            </a:r>
            <a:r>
              <a:rPr lang="en-US" sz="2650" b="0" dirty="0">
                <a:solidFill>
                  <a:srgbClr val="00BBEE"/>
                </a:solidFill>
              </a:rPr>
              <a:t>:</a:t>
            </a:r>
            <a:endParaRPr lang="ru-RU" sz="2650" b="0" dirty="0">
              <a:solidFill>
                <a:srgbClr val="00BBEE"/>
              </a:solidFill>
            </a:endParaRPr>
          </a:p>
          <a:p>
            <a:pPr lvl="1" indent="0">
              <a:buNone/>
            </a:pPr>
            <a:endParaRPr lang="ru-RU" sz="2500" b="0" dirty="0">
              <a:solidFill>
                <a:srgbClr val="00BBEE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48C4FB8-7FC9-B70C-1BB3-3132041D8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160429"/>
              </p:ext>
            </p:extLst>
          </p:nvPr>
        </p:nvGraphicFramePr>
        <p:xfrm>
          <a:off x="2032000" y="2701356"/>
          <a:ext cx="8128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858704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93449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Категория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Проблема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969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0061AF"/>
                          </a:solidFill>
                          <a:latin typeface="Montserrat" panose="00000500000000000000" pitchFamily="2" charset="0"/>
                        </a:rPr>
                        <a:t>Архитектура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rgbClr val="0061A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отсутствие асинхронности</a:t>
                      </a:r>
                      <a:endParaRPr lang="ru-RU" dirty="0">
                        <a:solidFill>
                          <a:srgbClr val="0061AF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7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0061AF"/>
                          </a:solidFill>
                          <a:latin typeface="Montserrat" panose="00000500000000000000" pitchFamily="2" charset="0"/>
                        </a:rPr>
                        <a:t>Безопасность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rgbClr val="0061A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Базовая защита </a:t>
                      </a:r>
                      <a:r>
                        <a:rPr lang="en-US" sz="1800" b="0" i="0" kern="1200" dirty="0">
                          <a:solidFill>
                            <a:srgbClr val="0061A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MS Access</a:t>
                      </a:r>
                      <a:r>
                        <a:rPr lang="ru-RU" sz="1800" b="0" i="0" kern="1200" dirty="0">
                          <a:solidFill>
                            <a:srgbClr val="0061A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, передача без шифрования</a:t>
                      </a:r>
                      <a:endParaRPr lang="ru-RU" dirty="0">
                        <a:solidFill>
                          <a:srgbClr val="0061AF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793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0061AF"/>
                          </a:solidFill>
                          <a:latin typeface="Montserrat" panose="00000500000000000000" pitchFamily="2" charset="0"/>
                        </a:rPr>
                        <a:t>Производительность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0061AF"/>
                          </a:solidFill>
                          <a:latin typeface="Montserrat" panose="00000500000000000000" pitchFamily="2" charset="0"/>
                        </a:rPr>
                        <a:t>Большое время отклика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153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0061AF"/>
                          </a:solidFill>
                          <a:latin typeface="Montserrat" panose="00000500000000000000" pitchFamily="2" charset="0"/>
                        </a:rPr>
                        <a:t>Совместимость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rgbClr val="0061A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Только </a:t>
                      </a:r>
                      <a:r>
                        <a:rPr lang="en-US" sz="1800" b="0" i="0" kern="1200" dirty="0">
                          <a:solidFill>
                            <a:srgbClr val="0061A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Windows</a:t>
                      </a:r>
                      <a:endParaRPr lang="ru-RU" dirty="0">
                        <a:solidFill>
                          <a:srgbClr val="0061AF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942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853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5ACAC-83D0-58C6-D111-7274A6C39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4" y="436045"/>
            <a:ext cx="9173513" cy="369332"/>
          </a:xfrm>
        </p:spPr>
        <p:txBody>
          <a:bodyPr/>
          <a:lstStyle/>
          <a:p>
            <a:pPr lvl="1"/>
            <a:r>
              <a:rPr lang="ru-RU" b="1" dirty="0">
                <a:solidFill>
                  <a:schemeClr val="bg1"/>
                </a:solidFill>
              </a:rPr>
              <a:t>Т</a:t>
            </a:r>
            <a:r>
              <a:rPr lang="ru-RU" sz="1800" b="1" dirty="0">
                <a:solidFill>
                  <a:schemeClr val="bg1"/>
                </a:solidFill>
              </a:rPr>
              <a:t>ребований к разрабатываемой системе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0DDF2A-402D-3498-3462-27A21FBF8C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4" y="1729294"/>
            <a:ext cx="8176053" cy="2977738"/>
          </a:xfrm>
        </p:spPr>
        <p:txBody>
          <a:bodyPr/>
          <a:lstStyle/>
          <a:p>
            <a:r>
              <a:rPr lang="ru-RU" sz="2400" dirty="0"/>
              <a:t>Требования</a:t>
            </a:r>
            <a:r>
              <a:rPr lang="en-US" sz="2400" dirty="0"/>
              <a:t>:</a:t>
            </a:r>
            <a:endParaRPr lang="ru-RU" sz="2400" dirty="0"/>
          </a:p>
          <a:p>
            <a:pPr marL="914400" lvl="1">
              <a:buFont typeface="+mj-lt"/>
              <a:buAutoNum type="arabicPeriod"/>
            </a:pPr>
            <a:r>
              <a:rPr lang="ru-RU" sz="2400" dirty="0">
                <a:solidFill>
                  <a:srgbClr val="00BBEE"/>
                </a:solidFill>
              </a:rPr>
              <a:t>Централизованное хранение метаданных</a:t>
            </a:r>
          </a:p>
          <a:p>
            <a:pPr marL="914400" lvl="1">
              <a:buFont typeface="+mj-lt"/>
              <a:buAutoNum type="arabicPeriod"/>
            </a:pPr>
            <a:r>
              <a:rPr lang="ru-RU" sz="2400" dirty="0">
                <a:solidFill>
                  <a:srgbClr val="00BBEE"/>
                </a:solidFill>
              </a:rPr>
              <a:t>Параметрический поиск</a:t>
            </a:r>
          </a:p>
          <a:p>
            <a:pPr marL="914400" lvl="1">
              <a:buFont typeface="+mj-lt"/>
              <a:buAutoNum type="arabicPeriod"/>
            </a:pPr>
            <a:r>
              <a:rPr lang="ru-RU" sz="2400" dirty="0">
                <a:solidFill>
                  <a:srgbClr val="00BBEE"/>
                </a:solidFill>
              </a:rPr>
              <a:t>Автоматизированный журнал аудита</a:t>
            </a:r>
          </a:p>
          <a:p>
            <a:pPr marL="914400" lvl="1">
              <a:buFont typeface="+mj-lt"/>
              <a:buAutoNum type="arabicPeriod"/>
            </a:pPr>
            <a:r>
              <a:rPr lang="ru-RU" sz="2400" dirty="0">
                <a:solidFill>
                  <a:srgbClr val="00BBEE"/>
                </a:solidFill>
              </a:rPr>
              <a:t>Импорт из </a:t>
            </a:r>
            <a:r>
              <a:rPr lang="en-US" sz="2400" dirty="0">
                <a:solidFill>
                  <a:srgbClr val="00BBEE"/>
                </a:solidFill>
              </a:rPr>
              <a:t>MS Access</a:t>
            </a:r>
          </a:p>
          <a:p>
            <a:pPr marL="914400" lvl="1">
              <a:buFont typeface="+mj-lt"/>
              <a:buAutoNum type="arabicPeriod"/>
            </a:pPr>
            <a:r>
              <a:rPr lang="ru-RU" sz="2400" dirty="0">
                <a:solidFill>
                  <a:srgbClr val="00BBEE"/>
                </a:solidFill>
              </a:rPr>
              <a:t>Интуитивно понятный интерфейс</a:t>
            </a:r>
            <a:endParaRPr lang="en-US" sz="2400" dirty="0">
              <a:solidFill>
                <a:srgbClr val="00BBEE"/>
              </a:solidFill>
            </a:endParaRPr>
          </a:p>
          <a:p>
            <a:pPr marL="914400" lvl="1">
              <a:buFont typeface="+mj-lt"/>
              <a:buAutoNum type="arabicPeriod"/>
            </a:pPr>
            <a:endParaRPr lang="ru-RU" sz="1850" dirty="0"/>
          </a:p>
        </p:txBody>
      </p:sp>
    </p:spTree>
    <p:extLst>
      <p:ext uri="{BB962C8B-B14F-4D97-AF65-F5344CB8AC3E}">
        <p14:creationId xmlns:p14="http://schemas.microsoft.com/office/powerpoint/2010/main" val="12446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8E6D-4E42-3D7B-A1BB-187A77E11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стека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901AA8-3E3B-E6C4-0E13-9F5558284D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3" y="1729295"/>
            <a:ext cx="3497521" cy="978394"/>
          </a:xfrm>
        </p:spPr>
        <p:txBody>
          <a:bodyPr/>
          <a:lstStyle/>
          <a:p>
            <a:r>
              <a:rPr lang="ru-RU" sz="2000" dirty="0"/>
              <a:t>Стек</a:t>
            </a:r>
            <a:r>
              <a:rPr lang="en-US" sz="2000" dirty="0"/>
              <a:t>:</a:t>
            </a:r>
          </a:p>
          <a:p>
            <a:r>
              <a:rPr lang="en-US" sz="2000" dirty="0"/>
              <a:t>	</a:t>
            </a:r>
            <a:endParaRPr lang="ru-RU" sz="20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984ED13-7EE5-0926-EF6C-9853A5F45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592812"/>
              </p:ext>
            </p:extLst>
          </p:nvPr>
        </p:nvGraphicFramePr>
        <p:xfrm>
          <a:off x="2032000" y="2316480"/>
          <a:ext cx="8127999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212025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8888782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40659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</a:rPr>
                        <a:t>Компонент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>
                          <a:effectLst/>
                        </a:rPr>
                        <a:t>Технология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effectLst/>
                        </a:rPr>
                        <a:t>Обоснование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630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rgbClr val="0061AF"/>
                          </a:solidFill>
                          <a:effectLst/>
                        </a:rPr>
                        <a:t>Язык</a:t>
                      </a:r>
                      <a:endParaRPr lang="ru-RU" dirty="0">
                        <a:solidFill>
                          <a:srgbClr val="0061A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61AF"/>
                          </a:solidFill>
                          <a:effectLst/>
                        </a:rPr>
                        <a:t>Python 3.9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61AF"/>
                          </a:solidFill>
                          <a:effectLst/>
                        </a:rPr>
                        <a:t>Простота, кроссплатформенность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326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61AF"/>
                          </a:solidFill>
                          <a:effectLst/>
                        </a:rPr>
                        <a:t>GUI</a:t>
                      </a:r>
                      <a:endParaRPr lang="en-US">
                        <a:solidFill>
                          <a:srgbClr val="0061A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61AF"/>
                          </a:solidFill>
                          <a:effectLst/>
                        </a:rPr>
                        <a:t>PyQt5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61AF"/>
                          </a:solidFill>
                          <a:effectLst/>
                        </a:rPr>
                        <a:t>Богатый интерфейс, сигналы/слоты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232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61AF"/>
                          </a:solidFill>
                          <a:effectLst/>
                        </a:rPr>
                        <a:t>Дизайн</a:t>
                      </a:r>
                      <a:endParaRPr lang="ru-RU">
                        <a:solidFill>
                          <a:srgbClr val="0061A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61AF"/>
                          </a:solidFill>
                          <a:effectLst/>
                        </a:rPr>
                        <a:t>QtDesigner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61AF"/>
                          </a:solidFill>
                          <a:effectLst/>
                        </a:rPr>
                        <a:t>Drag-and-drop, </a:t>
                      </a:r>
                      <a:r>
                        <a:rPr lang="ru-RU" dirty="0">
                          <a:solidFill>
                            <a:srgbClr val="0061AF"/>
                          </a:solidFill>
                          <a:effectLst/>
                        </a:rPr>
                        <a:t>разделение логики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706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61AF"/>
                          </a:solidFill>
                          <a:effectLst/>
                        </a:rPr>
                        <a:t>СУБД</a:t>
                      </a:r>
                      <a:endParaRPr lang="ru-RU">
                        <a:solidFill>
                          <a:srgbClr val="0061A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61AF"/>
                          </a:solidFill>
                          <a:effectLst/>
                        </a:rPr>
                        <a:t>PostgreSQL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61AF"/>
                          </a:solidFill>
                          <a:effectLst/>
                        </a:rPr>
                        <a:t>Open-source, </a:t>
                      </a:r>
                      <a:r>
                        <a:rPr lang="ru-RU" dirty="0">
                          <a:solidFill>
                            <a:srgbClr val="0061AF"/>
                          </a:solidFill>
                          <a:effectLst/>
                        </a:rPr>
                        <a:t>внешние ключи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643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61AF"/>
                          </a:solidFill>
                          <a:effectLst/>
                        </a:rPr>
                        <a:t>Драйвер</a:t>
                      </a:r>
                      <a:endParaRPr lang="ru-RU">
                        <a:solidFill>
                          <a:srgbClr val="0061A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61AF"/>
                          </a:solidFill>
                          <a:effectLst/>
                        </a:rPr>
                        <a:t>psycopg2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61AF"/>
                          </a:solidFill>
                          <a:effectLst/>
                        </a:rPr>
                        <a:t>Защита от </a:t>
                      </a:r>
                      <a:r>
                        <a:rPr lang="en-US" dirty="0">
                          <a:solidFill>
                            <a:srgbClr val="0061AF"/>
                          </a:solidFill>
                          <a:effectLst/>
                        </a:rPr>
                        <a:t>SQL-</a:t>
                      </a:r>
                      <a:r>
                        <a:rPr lang="ru-RU" dirty="0">
                          <a:solidFill>
                            <a:srgbClr val="0061AF"/>
                          </a:solidFill>
                          <a:effectLst/>
                        </a:rPr>
                        <a:t>инъекций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227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8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587E-060E-9CF6-C7F3-173D7492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базы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A0098E-8172-BE77-991C-875A76B1FB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765106-71E2-34CA-A474-C710E52B5A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C5B6CE-10BF-7123-51CD-23731B32A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123" y="2409036"/>
            <a:ext cx="6447223" cy="366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01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FE940B-02B2-F28C-2F08-182EB8A92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4" y="412962"/>
            <a:ext cx="9173513" cy="415498"/>
          </a:xfrm>
        </p:spPr>
        <p:txBody>
          <a:bodyPr/>
          <a:lstStyle/>
          <a:p>
            <a:r>
              <a:rPr lang="ru-RU" dirty="0"/>
              <a:t>Миграция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2896AC0-06CB-D10F-A361-A0813B584C3E}"/>
              </a:ext>
            </a:extLst>
          </p:cNvPr>
          <p:cNvSpPr/>
          <p:nvPr/>
        </p:nvSpPr>
        <p:spPr>
          <a:xfrm>
            <a:off x="769278" y="3071674"/>
            <a:ext cx="2361460" cy="1127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Выгрузка</a:t>
            </a:r>
            <a:r>
              <a:rPr lang="en-US" dirty="0"/>
              <a:t> </a:t>
            </a:r>
            <a:r>
              <a:rPr lang="ru-RU" dirty="0"/>
              <a:t>данных из </a:t>
            </a:r>
            <a:r>
              <a:rPr lang="en-US" dirty="0"/>
              <a:t>MySQL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33EE907-DF70-2CEF-0A4B-91B9B3B4E59D}"/>
              </a:ext>
            </a:extLst>
          </p:cNvPr>
          <p:cNvSpPr/>
          <p:nvPr/>
        </p:nvSpPr>
        <p:spPr>
          <a:xfrm>
            <a:off x="3659079" y="3071674"/>
            <a:ext cx="2361460" cy="1127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Создание временных таблиц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EB8AF60-0B53-B15B-D51D-E9561143D029}"/>
              </a:ext>
            </a:extLst>
          </p:cNvPr>
          <p:cNvSpPr/>
          <p:nvPr/>
        </p:nvSpPr>
        <p:spPr>
          <a:xfrm>
            <a:off x="6548880" y="3071674"/>
            <a:ext cx="2361460" cy="1127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Трансформация данных при загрузки в временные таблицы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0164531-8EFC-BF3B-E501-FFD7C8339011}"/>
              </a:ext>
            </a:extLst>
          </p:cNvPr>
          <p:cNvSpPr/>
          <p:nvPr/>
        </p:nvSpPr>
        <p:spPr>
          <a:xfrm>
            <a:off x="9438681" y="3071674"/>
            <a:ext cx="2361460" cy="1127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Перенос из временных таблиц в основные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EEDF176-BF00-6814-D96F-3EDBABBD855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130738" y="3635406"/>
            <a:ext cx="5283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52373B4-EC17-E442-D16C-661D0DBF7C0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020539" y="3635406"/>
            <a:ext cx="5283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EDA506F-BF03-EB48-4AB0-E4169FB19205}"/>
              </a:ext>
            </a:extLst>
          </p:cNvPr>
          <p:cNvCxnSpPr>
            <a:cxnSpLocks/>
          </p:cNvCxnSpPr>
          <p:nvPr/>
        </p:nvCxnSpPr>
        <p:spPr>
          <a:xfrm>
            <a:off x="8910340" y="3635406"/>
            <a:ext cx="5283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916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887A23-DB8D-4EF1-E793-7CEEC4484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892" y="1386668"/>
            <a:ext cx="6640216" cy="521261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BBEF1-2F25-5505-383A-EEF0F1289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4" y="412962"/>
            <a:ext cx="9173513" cy="415498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  <a:r>
              <a:rPr lang="en-US" dirty="0"/>
              <a:t>:</a:t>
            </a:r>
            <a:r>
              <a:rPr lang="ru-RU" dirty="0"/>
              <a:t> главное меню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331AAB4-1CB3-0EFD-2F44-592E943F0537}"/>
              </a:ext>
            </a:extLst>
          </p:cNvPr>
          <p:cNvSpPr/>
          <p:nvPr/>
        </p:nvSpPr>
        <p:spPr>
          <a:xfrm>
            <a:off x="4385569" y="2814220"/>
            <a:ext cx="3240349" cy="7634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31C2873-9B9A-568E-5075-30A11935F17B}"/>
              </a:ext>
            </a:extLst>
          </p:cNvPr>
          <p:cNvCxnSpPr>
            <a:cxnSpLocks/>
          </p:cNvCxnSpPr>
          <p:nvPr/>
        </p:nvCxnSpPr>
        <p:spPr>
          <a:xfrm flipV="1">
            <a:off x="7625918" y="2565647"/>
            <a:ext cx="346230" cy="24857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C4F252F-F59C-9C1E-AF94-88038C798FCB}"/>
              </a:ext>
            </a:extLst>
          </p:cNvPr>
          <p:cNvCxnSpPr>
            <a:cxnSpLocks/>
          </p:cNvCxnSpPr>
          <p:nvPr/>
        </p:nvCxnSpPr>
        <p:spPr>
          <a:xfrm>
            <a:off x="7972148" y="2565647"/>
            <a:ext cx="331137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0042055-E895-57CB-22FE-8F920089F24E}"/>
              </a:ext>
            </a:extLst>
          </p:cNvPr>
          <p:cNvSpPr txBox="1"/>
          <p:nvPr/>
        </p:nvSpPr>
        <p:spPr>
          <a:xfrm>
            <a:off x="7972148" y="2260224"/>
            <a:ext cx="311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C00000"/>
                </a:solidFill>
              </a:rPr>
              <a:t>Переход в окно «Документы»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221DF5A-E042-5D6D-38EC-05EDA03A2939}"/>
              </a:ext>
            </a:extLst>
          </p:cNvPr>
          <p:cNvSpPr/>
          <p:nvPr/>
        </p:nvSpPr>
        <p:spPr>
          <a:xfrm>
            <a:off x="4385569" y="3648722"/>
            <a:ext cx="3240349" cy="27520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861B4DA4-B0EC-2F43-B26C-686934412BBB}"/>
              </a:ext>
            </a:extLst>
          </p:cNvPr>
          <p:cNvCxnSpPr/>
          <p:nvPr/>
        </p:nvCxnSpPr>
        <p:spPr>
          <a:xfrm flipH="1" flipV="1">
            <a:off x="3977196" y="3355759"/>
            <a:ext cx="408373" cy="29296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50A0694-631C-48FC-CA49-4C3D538869CA}"/>
              </a:ext>
            </a:extLst>
          </p:cNvPr>
          <p:cNvCxnSpPr>
            <a:cxnSpLocks/>
          </p:cNvCxnSpPr>
          <p:nvPr/>
        </p:nvCxnSpPr>
        <p:spPr>
          <a:xfrm flipH="1">
            <a:off x="754602" y="3355759"/>
            <a:ext cx="322259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2DDADE7-4D29-6DA4-901F-6ED0ADB320A8}"/>
              </a:ext>
            </a:extLst>
          </p:cNvPr>
          <p:cNvSpPr txBox="1"/>
          <p:nvPr/>
        </p:nvSpPr>
        <p:spPr>
          <a:xfrm>
            <a:off x="656900" y="3011294"/>
            <a:ext cx="3116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6"/>
                </a:solidFill>
              </a:rPr>
              <a:t>Переход в окно «Извещения»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522DC30-CA89-BAD8-3483-B199AFFE2C68}"/>
              </a:ext>
            </a:extLst>
          </p:cNvPr>
          <p:cNvSpPr/>
          <p:nvPr/>
        </p:nvSpPr>
        <p:spPr>
          <a:xfrm>
            <a:off x="4385569" y="4014295"/>
            <a:ext cx="3240349" cy="275208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AAEE8A6-2268-8D75-E444-BB1E29C12B56}"/>
              </a:ext>
            </a:extLst>
          </p:cNvPr>
          <p:cNvCxnSpPr/>
          <p:nvPr/>
        </p:nvCxnSpPr>
        <p:spPr>
          <a:xfrm>
            <a:off x="7625918" y="4289503"/>
            <a:ext cx="346230" cy="264742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E6F13AA1-11B9-0B9B-F03E-A6CBDC9358BF}"/>
              </a:ext>
            </a:extLst>
          </p:cNvPr>
          <p:cNvCxnSpPr>
            <a:cxnSpLocks/>
          </p:cNvCxnSpPr>
          <p:nvPr/>
        </p:nvCxnSpPr>
        <p:spPr>
          <a:xfrm>
            <a:off x="7972148" y="4554245"/>
            <a:ext cx="3382392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BAF7544-A1D0-E9E5-B42E-DCFA1DFF1D65}"/>
              </a:ext>
            </a:extLst>
          </p:cNvPr>
          <p:cNvSpPr txBox="1"/>
          <p:nvPr/>
        </p:nvSpPr>
        <p:spPr>
          <a:xfrm>
            <a:off x="8120938" y="4197082"/>
            <a:ext cx="2820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4"/>
                </a:solidFill>
              </a:rPr>
              <a:t>Переход в окно «Деталей»</a:t>
            </a:r>
          </a:p>
        </p:txBody>
      </p:sp>
    </p:spTree>
    <p:extLst>
      <p:ext uri="{BB962C8B-B14F-4D97-AF65-F5344CB8AC3E}">
        <p14:creationId xmlns:p14="http://schemas.microsoft.com/office/powerpoint/2010/main" val="2015755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F0DD0D-C1FA-D4A4-1BF5-C2CEF9313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Пользовательский интерфейс</a:t>
            </a:r>
            <a:r>
              <a:rPr lang="en-US" dirty="0"/>
              <a:t>:</a:t>
            </a:r>
            <a:r>
              <a:rPr lang="ru-RU" dirty="0"/>
              <a:t> модуль «документы»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3ECB33-54D5-B5D0-3D8B-014185543B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BD4708-0DB1-B145-B31F-49478C3295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751E35-C868-C45F-988B-88F4F3886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97" y="1393794"/>
            <a:ext cx="9685259" cy="493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79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D20ACA-4CCB-45C7-E508-78395716D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Пользовательский интерфейс</a:t>
            </a:r>
            <a:r>
              <a:rPr lang="en-US" dirty="0"/>
              <a:t>:</a:t>
            </a:r>
            <a:r>
              <a:rPr lang="ru-RU" dirty="0"/>
              <a:t> панель инструментов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42793F-4EB9-951F-7A80-8A16DE02B3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9360A7-04A2-1E15-DF93-20A486C4C8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0858E6-1A1B-8DC2-3A3D-1FFC95471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66" y="3024801"/>
            <a:ext cx="11171068" cy="86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52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F53BE-DCCC-A0DB-F25F-FF9C2514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Пользовательский интерфейс</a:t>
            </a:r>
            <a:r>
              <a:rPr lang="en-US" dirty="0"/>
              <a:t>:</a:t>
            </a:r>
            <a:r>
              <a:rPr lang="ru-RU" dirty="0"/>
              <a:t> копии документа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252929-9577-BAD0-6A01-28E2008C9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C1332CE-5E14-AD69-5E13-4186AFD3CD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C81F72-6593-A0C2-8246-A43A10842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396" y="1477665"/>
            <a:ext cx="3229207" cy="471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492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F8EAAE-71C6-352A-F486-42173F10E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4" y="251379"/>
            <a:ext cx="9173513" cy="738664"/>
          </a:xfrm>
        </p:spPr>
        <p:txBody>
          <a:bodyPr/>
          <a:lstStyle/>
          <a:p>
            <a:r>
              <a:rPr lang="ru-RU" dirty="0"/>
              <a:t>Результаты и выводы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7B9793-DA87-8E17-D127-62B1E17C4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4" y="1729295"/>
            <a:ext cx="9063820" cy="4924425"/>
          </a:xfrm>
        </p:spPr>
        <p:txBody>
          <a:bodyPr/>
          <a:lstStyle/>
          <a:p>
            <a:r>
              <a:rPr lang="ru-RU" sz="2000" dirty="0"/>
              <a:t>Результаты работы:</a:t>
            </a:r>
          </a:p>
          <a:p>
            <a:pPr marL="914400" lvl="1">
              <a:buFont typeface="+mj-lt"/>
              <a:buAutoNum type="arabicPeriod"/>
            </a:pPr>
            <a:r>
              <a:rPr lang="ru-RU" sz="2000" b="0" dirty="0">
                <a:solidFill>
                  <a:srgbClr val="00BBEE"/>
                </a:solidFill>
              </a:rPr>
              <a:t>Разработано </a:t>
            </a:r>
            <a:r>
              <a:rPr lang="ru-RU" sz="2000" b="0" dirty="0" err="1">
                <a:solidFill>
                  <a:srgbClr val="00BBEE"/>
                </a:solidFill>
              </a:rPr>
              <a:t>импортонезависимое</a:t>
            </a:r>
            <a:r>
              <a:rPr lang="ru-RU" sz="2000" b="0" dirty="0">
                <a:solidFill>
                  <a:srgbClr val="00BBEE"/>
                </a:solidFill>
              </a:rPr>
              <a:t> приложение</a:t>
            </a:r>
          </a:p>
          <a:p>
            <a:pPr marL="914400" lvl="1">
              <a:buFont typeface="+mj-lt"/>
              <a:buAutoNum type="arabicPeriod"/>
            </a:pPr>
            <a:r>
              <a:rPr lang="ru-RU" sz="2000" b="0" dirty="0">
                <a:solidFill>
                  <a:srgbClr val="00BBEE"/>
                </a:solidFill>
              </a:rPr>
              <a:t>Реализована миграция данных из M</a:t>
            </a:r>
            <a:r>
              <a:rPr lang="en-US" sz="2000" dirty="0">
                <a:solidFill>
                  <a:srgbClr val="00BBEE"/>
                </a:solidFill>
              </a:rPr>
              <a:t>S </a:t>
            </a:r>
            <a:r>
              <a:rPr lang="ru-RU" sz="2000" b="0" dirty="0">
                <a:solidFill>
                  <a:srgbClr val="00BBEE"/>
                </a:solidFill>
              </a:rPr>
              <a:t>SQL в </a:t>
            </a:r>
            <a:r>
              <a:rPr lang="ru-RU" sz="2000" b="0" dirty="0" err="1">
                <a:solidFill>
                  <a:srgbClr val="00BBEE"/>
                </a:solidFill>
              </a:rPr>
              <a:t>PostgreSQL</a:t>
            </a:r>
            <a:endParaRPr lang="ru-RU" sz="2000" b="0" dirty="0">
              <a:solidFill>
                <a:srgbClr val="00BBEE"/>
              </a:solidFill>
            </a:endParaRPr>
          </a:p>
          <a:p>
            <a:pPr marL="914400" lvl="1">
              <a:buFont typeface="+mj-lt"/>
              <a:buAutoNum type="arabicPeriod"/>
            </a:pPr>
            <a:r>
              <a:rPr lang="ru-RU" sz="2000" b="0" dirty="0">
                <a:solidFill>
                  <a:srgbClr val="00BBEE"/>
                </a:solidFill>
              </a:rPr>
              <a:t>Создана нормализованная структура БД</a:t>
            </a:r>
          </a:p>
          <a:p>
            <a:pPr marL="914400" lvl="1">
              <a:buFont typeface="+mj-lt"/>
              <a:buAutoNum type="arabicPeriod"/>
            </a:pPr>
            <a:r>
              <a:rPr lang="ru-RU" sz="2000" b="0" dirty="0">
                <a:solidFill>
                  <a:srgbClr val="00BBEE"/>
                </a:solidFill>
              </a:rPr>
              <a:t>Внедрена система аудита действий</a:t>
            </a:r>
            <a:endParaRPr lang="en-US" sz="2000" dirty="0">
              <a:solidFill>
                <a:srgbClr val="00BBEE"/>
              </a:solidFill>
            </a:endParaRPr>
          </a:p>
          <a:p>
            <a:pPr marL="914400" lvl="1">
              <a:buFont typeface="+mj-lt"/>
              <a:buAutoNum type="arabicPeriod"/>
            </a:pPr>
            <a:r>
              <a:rPr lang="ru-RU" sz="2000" b="0" dirty="0">
                <a:solidFill>
                  <a:srgbClr val="00BBEE"/>
                </a:solidFill>
              </a:rPr>
              <a:t>Обеспечена совместимость с Astra Linux</a:t>
            </a:r>
            <a:endParaRPr lang="en-US" sz="2000" dirty="0">
              <a:solidFill>
                <a:srgbClr val="00BBEE"/>
              </a:solidFill>
            </a:endParaRPr>
          </a:p>
          <a:p>
            <a:pPr marL="914400" lvl="1">
              <a:buFont typeface="+mj-lt"/>
              <a:buAutoNum type="arabicPeriod"/>
            </a:pPr>
            <a:endParaRPr lang="en-US" sz="2000" b="0" dirty="0">
              <a:solidFill>
                <a:srgbClr val="00BBEE"/>
              </a:solidFill>
            </a:endParaRPr>
          </a:p>
          <a:p>
            <a:r>
              <a:rPr lang="ru-RU" sz="2000" dirty="0"/>
              <a:t>Перспективы</a:t>
            </a:r>
            <a:r>
              <a:rPr lang="en-US" sz="2000" dirty="0"/>
              <a:t>:</a:t>
            </a:r>
            <a:endParaRPr lang="ru-RU" sz="2000" dirty="0"/>
          </a:p>
          <a:p>
            <a:pPr marL="800100" lvl="1" indent="-342900">
              <a:buFont typeface="+mj-lt"/>
              <a:buAutoNum type="arabicPeriod"/>
            </a:pPr>
            <a:r>
              <a:rPr lang="ru-RU" sz="2000" dirty="0">
                <a:solidFill>
                  <a:srgbClr val="00BBEE"/>
                </a:solidFill>
              </a:rPr>
              <a:t>Добавление модуля «Анализ»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2000" dirty="0">
                <a:solidFill>
                  <a:srgbClr val="00BBEE"/>
                </a:solidFill>
              </a:rPr>
              <a:t>Создание отчетности через </a:t>
            </a:r>
            <a:r>
              <a:rPr lang="en-US" sz="2000" dirty="0">
                <a:solidFill>
                  <a:srgbClr val="00BBEE"/>
                </a:solidFill>
              </a:rPr>
              <a:t>pdf</a:t>
            </a:r>
            <a:endParaRPr lang="ru-RU" sz="2000" dirty="0">
              <a:solidFill>
                <a:srgbClr val="00BBEE"/>
              </a:solidFill>
            </a:endParaRPr>
          </a:p>
          <a:p>
            <a:r>
              <a:rPr lang="ru-RU" sz="2000" dirty="0"/>
              <a:t>	</a:t>
            </a:r>
          </a:p>
          <a:p>
            <a:pPr lvl="1" indent="0">
              <a:buNone/>
            </a:pPr>
            <a:endParaRPr lang="ru-RU" sz="2000" b="0" dirty="0">
              <a:solidFill>
                <a:srgbClr val="00BBEE"/>
              </a:solidFill>
            </a:endParaRP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9875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5109C6-2EBE-C8BD-CB90-4054B4C2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5F1F5B-4DD3-4910-CA96-A6EDA93BCA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9383" y="3304713"/>
            <a:ext cx="7776558" cy="707886"/>
          </a:xfrm>
        </p:spPr>
        <p:txBody>
          <a:bodyPr/>
          <a:lstStyle/>
          <a:p>
            <a:pPr algn="ctr"/>
            <a:r>
              <a:rPr lang="ru-RU" sz="4000" dirty="0"/>
              <a:t>Спасибо за внимание!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2F3F35-928E-89DB-B368-D46A16DDC2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715763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Шаблон МИФИ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12973</TotalTime>
  <Words>329</Words>
  <Application>Microsoft Office PowerPoint</Application>
  <PresentationFormat>Широкоэкранный</PresentationFormat>
  <Paragraphs>90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Calibri</vt:lpstr>
      <vt:lpstr>Arial</vt:lpstr>
      <vt:lpstr>Calibri Light</vt:lpstr>
      <vt:lpstr>Times New Roman</vt:lpstr>
      <vt:lpstr>Montserrat</vt:lpstr>
      <vt:lpstr>Шаблон МИФИ</vt:lpstr>
      <vt:lpstr>1_Шаблон МИФИ</vt:lpstr>
      <vt:lpstr>Презентация PowerPoint</vt:lpstr>
      <vt:lpstr>Актуальность и проблематика</vt:lpstr>
      <vt:lpstr>Объект, предмет и цель работы</vt:lpstr>
      <vt:lpstr>Анализ существующего решения</vt:lpstr>
      <vt:lpstr>Требований к разрабатываемой системе</vt:lpstr>
      <vt:lpstr>Выбор стека</vt:lpstr>
      <vt:lpstr>Схема базы данных</vt:lpstr>
      <vt:lpstr>Миграция данных</vt:lpstr>
      <vt:lpstr>Пользовательский интерфейс: главное меню</vt:lpstr>
      <vt:lpstr>Пользовательский интерфейс: модуль «документы»</vt:lpstr>
      <vt:lpstr>Пользовательский интерфейс: панель инструментов</vt:lpstr>
      <vt:lpstr>Пользовательский интерфейс: копии документа</vt:lpstr>
      <vt:lpstr>Результаты и выводы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саша паннченков</cp:lastModifiedBy>
  <cp:revision>320</cp:revision>
  <dcterms:created xsi:type="dcterms:W3CDTF">2020-05-28T16:18:16Z</dcterms:created>
  <dcterms:modified xsi:type="dcterms:W3CDTF">2026-06-16T14:28:47Z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