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4" r:id="rId1"/>
    <p:sldMasterId id="2147483698" r:id="rId2"/>
  </p:sldMasterIdLst>
  <p:notesMasterIdLst>
    <p:notesMasterId r:id="rId13"/>
  </p:notesMasterIdLst>
  <p:sldIdLst>
    <p:sldId id="258" r:id="rId3"/>
    <p:sldId id="283" r:id="rId4"/>
    <p:sldId id="284" r:id="rId5"/>
    <p:sldId id="285" r:id="rId6"/>
    <p:sldId id="286" r:id="rId7"/>
    <p:sldId id="287" r:id="rId8"/>
    <p:sldId id="288" r:id="rId9"/>
    <p:sldId id="289" r:id="rId10"/>
    <p:sldId id="290" r:id="rId11"/>
    <p:sldId id="291" r:id="rId12"/>
  </p:sldIdLst>
  <p:sldSz cx="12192000" cy="6858000"/>
  <p:notesSz cx="6858000" cy="9144000"/>
  <p:embeddedFontLst>
    <p:embeddedFont>
      <p:font typeface="Montserrat" panose="00000500000000000000" pitchFamily="2" charset="0"/>
      <p:regular r:id="rId14"/>
      <p:bold r:id="rId15"/>
      <p:italic r:id="rId16"/>
      <p:boldItalic r:id="rId17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BEE"/>
    <a:srgbClr val="0061AF"/>
    <a:srgbClr val="8F9092"/>
    <a:srgbClr val="0055BB"/>
    <a:srgbClr val="FF7300"/>
    <a:srgbClr val="E46C2A"/>
    <a:srgbClr val="DDDEDE"/>
    <a:srgbClr val="222A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81" autoAdjust="0"/>
    <p:restoredTop sz="94697"/>
  </p:normalViewPr>
  <p:slideViewPr>
    <p:cSldViewPr snapToGrid="0" showGuides="1">
      <p:cViewPr varScale="1">
        <p:scale>
          <a:sx n="108" d="100"/>
          <a:sy n="108" d="100"/>
        </p:scale>
        <p:origin x="732" y="11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4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1A4F82-DAF8-4DB7-B5B2-598342E61993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FFB7BE-5EBF-4EF0-84AC-5C073E1E446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1745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атом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11641138" y="6453189"/>
            <a:ext cx="357790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05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05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pic>
        <p:nvPicPr>
          <p:cNvPr id="5" name="Рисунок 4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780" t="32381" r="-4361" b="40680"/>
          <a:stretch/>
        </p:blipFill>
        <p:spPr>
          <a:xfrm>
            <a:off x="1" y="1269810"/>
            <a:ext cx="982787" cy="1505489"/>
          </a:xfrm>
          <a:prstGeom prst="rect">
            <a:avLst/>
          </a:prstGeom>
        </p:spPr>
      </p:pic>
      <p:sp>
        <p:nvSpPr>
          <p:cNvPr id="6" name="Прямоугольник 5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rgbClr val="005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rgbClr val="0055BB"/>
              </a:solidFill>
            </a:endParaRPr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3654" b="46857"/>
          <a:stretch/>
        </p:blipFill>
        <p:spPr>
          <a:xfrm>
            <a:off x="8040342" y="-1"/>
            <a:ext cx="4151660" cy="12239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6" t="1513" r="20843" b="88431"/>
          <a:stretch/>
        </p:blipFill>
        <p:spPr>
          <a:xfrm>
            <a:off x="1" y="6296029"/>
            <a:ext cx="982787" cy="56197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48" t="45097" r="86065" b="31852"/>
          <a:stretch/>
        </p:blipFill>
        <p:spPr>
          <a:xfrm>
            <a:off x="11703437" y="3382264"/>
            <a:ext cx="491219" cy="1288239"/>
          </a:xfrm>
          <a:prstGeom prst="rect">
            <a:avLst/>
          </a:prstGeom>
        </p:spPr>
      </p:pic>
      <p:sp>
        <p:nvSpPr>
          <p:cNvPr id="15" name="Заголовок 14"/>
          <p:cNvSpPr>
            <a:spLocks noGrp="1"/>
          </p:cNvSpPr>
          <p:nvPr>
            <p:ph type="title"/>
          </p:nvPr>
        </p:nvSpPr>
        <p:spPr>
          <a:xfrm>
            <a:off x="559574" y="412962"/>
            <a:ext cx="11081567" cy="415498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defRPr sz="21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9"/>
          <p:cNvSpPr>
            <a:spLocks noGrp="1"/>
          </p:cNvSpPr>
          <p:nvPr>
            <p:ph type="body" sz="quarter" idx="10" hasCustomPrompt="1"/>
          </p:nvPr>
        </p:nvSpPr>
        <p:spPr>
          <a:xfrm>
            <a:off x="559574" y="1729295"/>
            <a:ext cx="1348447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None/>
              <a:defRPr sz="12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defRPr sz="105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7" name="Текст 26"/>
          <p:cNvSpPr>
            <a:spLocks noGrp="1"/>
          </p:cNvSpPr>
          <p:nvPr>
            <p:ph type="body" sz="quarter" idx="11"/>
          </p:nvPr>
        </p:nvSpPr>
        <p:spPr>
          <a:xfrm>
            <a:off x="559572" y="2409036"/>
            <a:ext cx="1649811" cy="2539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None/>
              <a:defRPr sz="1050">
                <a:solidFill>
                  <a:srgbClr val="222A3F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732396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без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780" t="32381" r="-4361" b="40680"/>
          <a:stretch/>
        </p:blipFill>
        <p:spPr>
          <a:xfrm>
            <a:off x="1" y="1269810"/>
            <a:ext cx="982787" cy="150548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6" t="1513" r="20843" b="88431"/>
          <a:stretch/>
        </p:blipFill>
        <p:spPr>
          <a:xfrm>
            <a:off x="1" y="6296029"/>
            <a:ext cx="982787" cy="56197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48" t="45097" r="86065" b="31852"/>
          <a:stretch/>
        </p:blipFill>
        <p:spPr>
          <a:xfrm>
            <a:off x="11703437" y="3382264"/>
            <a:ext cx="491219" cy="1288239"/>
          </a:xfrm>
          <a:prstGeom prst="rect">
            <a:avLst/>
          </a:prstGeom>
        </p:spPr>
      </p:pic>
      <p:sp>
        <p:nvSpPr>
          <p:cNvPr id="15" name="Заголовок 14"/>
          <p:cNvSpPr>
            <a:spLocks noGrp="1"/>
          </p:cNvSpPr>
          <p:nvPr>
            <p:ph type="title"/>
          </p:nvPr>
        </p:nvSpPr>
        <p:spPr>
          <a:xfrm>
            <a:off x="559573" y="412962"/>
            <a:ext cx="9199891" cy="415498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defRPr sz="2100" b="1">
                <a:solidFill>
                  <a:srgbClr val="0055BB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5139" y="170399"/>
            <a:ext cx="1656000" cy="883200"/>
          </a:xfrm>
          <a:prstGeom prst="rect">
            <a:avLst/>
          </a:prstGeom>
        </p:spPr>
      </p:pic>
      <p:sp>
        <p:nvSpPr>
          <p:cNvPr id="14" name="Текст 19"/>
          <p:cNvSpPr>
            <a:spLocks noGrp="1"/>
          </p:cNvSpPr>
          <p:nvPr>
            <p:ph type="body" sz="quarter" idx="10" hasCustomPrompt="1"/>
          </p:nvPr>
        </p:nvSpPr>
        <p:spPr>
          <a:xfrm>
            <a:off x="559574" y="1729295"/>
            <a:ext cx="1348447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None/>
              <a:defRPr sz="1200" b="1">
                <a:solidFill>
                  <a:srgbClr val="00BBEE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defRPr sz="105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26"/>
          <p:cNvSpPr>
            <a:spLocks noGrp="1"/>
          </p:cNvSpPr>
          <p:nvPr>
            <p:ph type="body" sz="quarter" idx="11"/>
          </p:nvPr>
        </p:nvSpPr>
        <p:spPr>
          <a:xfrm>
            <a:off x="559572" y="2409036"/>
            <a:ext cx="1649811" cy="2539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None/>
              <a:defRPr sz="1050">
                <a:solidFill>
                  <a:srgbClr val="222A3F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9"/>
            <a:ext cx="357790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05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05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443768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без коня (синя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rgbClr val="005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bg1"/>
              </a:solidFill>
            </a:endParaRPr>
          </a:p>
        </p:txBody>
      </p: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2763" y="170399"/>
            <a:ext cx="1656000" cy="8832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780" t="32381" r="-4361" b="40680"/>
          <a:stretch/>
        </p:blipFill>
        <p:spPr>
          <a:xfrm>
            <a:off x="1" y="1269810"/>
            <a:ext cx="982787" cy="150548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6" t="1513" r="20843" b="88431"/>
          <a:stretch/>
        </p:blipFill>
        <p:spPr>
          <a:xfrm>
            <a:off x="1" y="6296029"/>
            <a:ext cx="982787" cy="56197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48" t="45097" r="86065" b="31852"/>
          <a:stretch/>
        </p:blipFill>
        <p:spPr>
          <a:xfrm>
            <a:off x="11703437" y="3382264"/>
            <a:ext cx="491219" cy="1288239"/>
          </a:xfrm>
          <a:prstGeom prst="rect">
            <a:avLst/>
          </a:prstGeom>
        </p:spPr>
      </p:pic>
      <p:sp>
        <p:nvSpPr>
          <p:cNvPr id="15" name="Заголовок 14"/>
          <p:cNvSpPr>
            <a:spLocks noGrp="1"/>
          </p:cNvSpPr>
          <p:nvPr>
            <p:ph type="title"/>
          </p:nvPr>
        </p:nvSpPr>
        <p:spPr>
          <a:xfrm>
            <a:off x="559574" y="412962"/>
            <a:ext cx="9173513" cy="415498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defRPr sz="21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9"/>
          <p:cNvSpPr>
            <a:spLocks noGrp="1"/>
          </p:cNvSpPr>
          <p:nvPr>
            <p:ph type="body" sz="quarter" idx="10" hasCustomPrompt="1"/>
          </p:nvPr>
        </p:nvSpPr>
        <p:spPr>
          <a:xfrm>
            <a:off x="559574" y="1729295"/>
            <a:ext cx="1348447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None/>
              <a:defRPr sz="1200" b="1">
                <a:solidFill>
                  <a:srgbClr val="00BBEE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defRPr sz="105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26"/>
          <p:cNvSpPr>
            <a:spLocks noGrp="1"/>
          </p:cNvSpPr>
          <p:nvPr>
            <p:ph type="body" sz="quarter" idx="11"/>
          </p:nvPr>
        </p:nvSpPr>
        <p:spPr>
          <a:xfrm>
            <a:off x="559572" y="2409036"/>
            <a:ext cx="1649811" cy="2539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None/>
              <a:defRPr sz="1050">
                <a:solidFill>
                  <a:srgbClr val="222A3F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43DE57E-711D-404D-B188-192C4B659303}"/>
              </a:ext>
            </a:extLst>
          </p:cNvPr>
          <p:cNvSpPr/>
          <p:nvPr userDrawn="1"/>
        </p:nvSpPr>
        <p:spPr>
          <a:xfrm>
            <a:off x="11641138" y="6453189"/>
            <a:ext cx="357790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05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05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446839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780" t="32381" r="-4361" b="40680"/>
          <a:stretch/>
        </p:blipFill>
        <p:spPr>
          <a:xfrm>
            <a:off x="1" y="1269810"/>
            <a:ext cx="982787" cy="150548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6" t="1513" r="20843" b="88431"/>
          <a:stretch/>
        </p:blipFill>
        <p:spPr>
          <a:xfrm>
            <a:off x="1" y="6296029"/>
            <a:ext cx="982787" cy="56197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48" t="45097" r="86065" b="31852"/>
          <a:stretch/>
        </p:blipFill>
        <p:spPr>
          <a:xfrm>
            <a:off x="11703437" y="3382264"/>
            <a:ext cx="491219" cy="1288239"/>
          </a:xfrm>
          <a:prstGeom prst="rect">
            <a:avLst/>
          </a:prstGeom>
        </p:spPr>
      </p:pic>
      <p:sp>
        <p:nvSpPr>
          <p:cNvPr id="15" name="Заголовок 14"/>
          <p:cNvSpPr>
            <a:spLocks noGrp="1"/>
          </p:cNvSpPr>
          <p:nvPr>
            <p:ph type="title"/>
          </p:nvPr>
        </p:nvSpPr>
        <p:spPr>
          <a:xfrm>
            <a:off x="559575" y="412962"/>
            <a:ext cx="8900951" cy="415498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defRPr lang="ru-RU" sz="2100" b="1" kern="1200" dirty="0">
                <a:solidFill>
                  <a:srgbClr val="E46C2A"/>
                </a:solidFill>
                <a:latin typeface="Montserrat" panose="00000500000000000000" pitchFamily="2" charset="-52"/>
                <a:ea typeface="+mj-ea"/>
                <a:cs typeface="+mj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9"/>
          <p:cNvSpPr>
            <a:spLocks noGrp="1"/>
          </p:cNvSpPr>
          <p:nvPr>
            <p:ph type="body" sz="quarter" idx="10" hasCustomPrompt="1"/>
          </p:nvPr>
        </p:nvSpPr>
        <p:spPr>
          <a:xfrm>
            <a:off x="559574" y="1729295"/>
            <a:ext cx="1348447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None/>
              <a:defRPr sz="1200" b="1">
                <a:solidFill>
                  <a:srgbClr val="00BBEE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defRPr sz="105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26"/>
          <p:cNvSpPr>
            <a:spLocks noGrp="1"/>
          </p:cNvSpPr>
          <p:nvPr>
            <p:ph type="body" sz="quarter" idx="11"/>
          </p:nvPr>
        </p:nvSpPr>
        <p:spPr>
          <a:xfrm>
            <a:off x="559572" y="2409036"/>
            <a:ext cx="1649811" cy="2539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None/>
              <a:defRPr sz="1050">
                <a:solidFill>
                  <a:srgbClr val="222A3F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pic>
        <p:nvPicPr>
          <p:cNvPr id="2" name="Рисунок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957" y="-135287"/>
            <a:ext cx="2376075" cy="1512000"/>
          </a:xfrm>
          <a:prstGeom prst="rect">
            <a:avLst/>
          </a:prstGeom>
        </p:spPr>
      </p:pic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00D0962-6951-42C9-AAB7-A8419B4562CD}"/>
              </a:ext>
            </a:extLst>
          </p:cNvPr>
          <p:cNvSpPr/>
          <p:nvPr userDrawn="1"/>
        </p:nvSpPr>
        <p:spPr>
          <a:xfrm>
            <a:off x="11641138" y="6453189"/>
            <a:ext cx="357790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05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05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9468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коня (сер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rgbClr val="DDDE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bg1"/>
              </a:solidFill>
            </a:endParaRPr>
          </a:p>
        </p:txBody>
      </p:sp>
      <p:pic>
        <p:nvPicPr>
          <p:cNvPr id="5" name="Рисунок 4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780" t="32381" r="-4361" b="40680"/>
          <a:stretch/>
        </p:blipFill>
        <p:spPr>
          <a:xfrm>
            <a:off x="1" y="1269810"/>
            <a:ext cx="982787" cy="150548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6" t="1513" r="20843" b="88431"/>
          <a:stretch/>
        </p:blipFill>
        <p:spPr>
          <a:xfrm>
            <a:off x="1" y="6296029"/>
            <a:ext cx="982787" cy="56197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48" t="45097" r="86065" b="31852"/>
          <a:stretch/>
        </p:blipFill>
        <p:spPr>
          <a:xfrm>
            <a:off x="11703437" y="3382264"/>
            <a:ext cx="491219" cy="1288239"/>
          </a:xfrm>
          <a:prstGeom prst="rect">
            <a:avLst/>
          </a:prstGeom>
        </p:spPr>
      </p:pic>
      <p:sp>
        <p:nvSpPr>
          <p:cNvPr id="15" name="Заголовок 14"/>
          <p:cNvSpPr>
            <a:spLocks noGrp="1"/>
          </p:cNvSpPr>
          <p:nvPr>
            <p:ph type="title"/>
          </p:nvPr>
        </p:nvSpPr>
        <p:spPr>
          <a:xfrm>
            <a:off x="559574" y="412962"/>
            <a:ext cx="9032836" cy="415498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defRPr lang="ru-RU" sz="2100" b="1" kern="1200" dirty="0">
                <a:solidFill>
                  <a:srgbClr val="0055BB"/>
                </a:solidFill>
                <a:latin typeface="Montserrat" panose="00000500000000000000" pitchFamily="2" charset="-52"/>
                <a:ea typeface="+mj-ea"/>
                <a:cs typeface="+mj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9"/>
          <p:cNvSpPr>
            <a:spLocks noGrp="1"/>
          </p:cNvSpPr>
          <p:nvPr>
            <p:ph type="body" sz="quarter" idx="10" hasCustomPrompt="1"/>
          </p:nvPr>
        </p:nvSpPr>
        <p:spPr>
          <a:xfrm>
            <a:off x="559574" y="1729295"/>
            <a:ext cx="1348447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None/>
              <a:defRPr sz="1200" b="1">
                <a:solidFill>
                  <a:srgbClr val="00BBEE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defRPr sz="105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26"/>
          <p:cNvSpPr>
            <a:spLocks noGrp="1"/>
          </p:cNvSpPr>
          <p:nvPr>
            <p:ph type="body" sz="quarter" idx="11"/>
          </p:nvPr>
        </p:nvSpPr>
        <p:spPr>
          <a:xfrm>
            <a:off x="559572" y="2409036"/>
            <a:ext cx="1649811" cy="2539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None/>
              <a:defRPr sz="1050">
                <a:solidFill>
                  <a:srgbClr val="222A3F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pic>
        <p:nvPicPr>
          <p:cNvPr id="3" name="Рисунок 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invGray">
          <a:xfrm>
            <a:off x="9525957" y="-144001"/>
            <a:ext cx="2376075" cy="1512000"/>
          </a:xfrm>
          <a:prstGeom prst="rect">
            <a:avLst/>
          </a:prstGeom>
        </p:spPr>
      </p:pic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2077ADA-551A-4656-A047-B811D4148796}"/>
              </a:ext>
            </a:extLst>
          </p:cNvPr>
          <p:cNvSpPr/>
          <p:nvPr userDrawn="1"/>
        </p:nvSpPr>
        <p:spPr>
          <a:xfrm>
            <a:off x="11641138" y="6453189"/>
            <a:ext cx="357790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05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05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675729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Титульны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9427" y="2898000"/>
            <a:ext cx="4752575" cy="39600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195" y="558606"/>
            <a:ext cx="2484000" cy="1656000"/>
          </a:xfrm>
          <a:prstGeom prst="rect">
            <a:avLst/>
          </a:prstGeom>
        </p:spPr>
      </p:pic>
      <p:sp>
        <p:nvSpPr>
          <p:cNvPr id="6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560196" y="6083856"/>
            <a:ext cx="1649811" cy="30008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None/>
              <a:defRPr sz="135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01.01.2010</a:t>
            </a:r>
          </a:p>
        </p:txBody>
      </p:sp>
      <p:sp>
        <p:nvSpPr>
          <p:cNvPr id="7" name="Текст 26"/>
          <p:cNvSpPr>
            <a:spLocks noGrp="1"/>
          </p:cNvSpPr>
          <p:nvPr>
            <p:ph type="body" sz="quarter" idx="12" hasCustomPrompt="1"/>
          </p:nvPr>
        </p:nvSpPr>
        <p:spPr>
          <a:xfrm>
            <a:off x="560196" y="2567227"/>
            <a:ext cx="2694755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None/>
              <a:defRPr sz="18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Текст 26"/>
          <p:cNvSpPr>
            <a:spLocks noGrp="1"/>
          </p:cNvSpPr>
          <p:nvPr>
            <p:ph type="body" sz="quarter" idx="13" hasCustomPrompt="1"/>
          </p:nvPr>
        </p:nvSpPr>
        <p:spPr>
          <a:xfrm>
            <a:off x="560197" y="3198171"/>
            <a:ext cx="2936041" cy="5078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None/>
              <a:defRPr sz="2700" b="1">
                <a:solidFill>
                  <a:srgbClr val="0055BB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027023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6418217" y="6083856"/>
            <a:ext cx="1649811" cy="30008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None/>
              <a:defRPr sz="135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01.01.2010</a:t>
            </a:r>
          </a:p>
        </p:txBody>
      </p:sp>
      <p:sp>
        <p:nvSpPr>
          <p:cNvPr id="7" name="Текст 26"/>
          <p:cNvSpPr>
            <a:spLocks noGrp="1"/>
          </p:cNvSpPr>
          <p:nvPr>
            <p:ph type="body" sz="quarter" idx="12" hasCustomPrompt="1"/>
          </p:nvPr>
        </p:nvSpPr>
        <p:spPr>
          <a:xfrm>
            <a:off x="6418217" y="2567227"/>
            <a:ext cx="2694755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None/>
              <a:defRPr sz="18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Текст 26"/>
          <p:cNvSpPr>
            <a:spLocks noGrp="1"/>
          </p:cNvSpPr>
          <p:nvPr>
            <p:ph type="body" sz="quarter" idx="13" hasCustomPrompt="1"/>
          </p:nvPr>
        </p:nvSpPr>
        <p:spPr>
          <a:xfrm>
            <a:off x="6418219" y="3198171"/>
            <a:ext cx="2936041" cy="5078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None/>
              <a:defRPr sz="2700" b="1">
                <a:solidFill>
                  <a:srgbClr val="0055BB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169250"/>
            <a:ext cx="5886995" cy="4088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101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9427" y="2898000"/>
            <a:ext cx="4752575" cy="3960000"/>
          </a:xfrm>
          <a:prstGeom prst="rect">
            <a:avLst/>
          </a:prstGeom>
        </p:spPr>
      </p:pic>
      <p:sp>
        <p:nvSpPr>
          <p:cNvPr id="7" name="Текст 26"/>
          <p:cNvSpPr>
            <a:spLocks noGrp="1"/>
          </p:cNvSpPr>
          <p:nvPr>
            <p:ph type="body" sz="quarter" idx="13" hasCustomPrompt="1"/>
          </p:nvPr>
        </p:nvSpPr>
        <p:spPr>
          <a:xfrm>
            <a:off x="560197" y="3105838"/>
            <a:ext cx="2936041" cy="5078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None/>
              <a:defRPr sz="2700" b="1">
                <a:solidFill>
                  <a:srgbClr val="0055BB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79755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34210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03908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455428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235175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561551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9416643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5467718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7143915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980495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0224752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1412565"/>
      </p:ext>
    </p:extLst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Титульны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9427" y="2898000"/>
            <a:ext cx="4752575" cy="39600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195" y="558606"/>
            <a:ext cx="2484000" cy="1656000"/>
          </a:xfrm>
          <a:prstGeom prst="rect">
            <a:avLst/>
          </a:prstGeom>
        </p:spPr>
      </p:pic>
      <p:sp>
        <p:nvSpPr>
          <p:cNvPr id="6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560196" y="6083856"/>
            <a:ext cx="1649811" cy="30008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None/>
              <a:defRPr sz="135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01.01.2010</a:t>
            </a:r>
          </a:p>
        </p:txBody>
      </p:sp>
      <p:sp>
        <p:nvSpPr>
          <p:cNvPr id="7" name="Текст 26"/>
          <p:cNvSpPr>
            <a:spLocks noGrp="1"/>
          </p:cNvSpPr>
          <p:nvPr>
            <p:ph type="body" sz="quarter" idx="12" hasCustomPrompt="1"/>
          </p:nvPr>
        </p:nvSpPr>
        <p:spPr>
          <a:xfrm>
            <a:off x="560196" y="2567227"/>
            <a:ext cx="2694755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None/>
              <a:defRPr sz="18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Текст 26"/>
          <p:cNvSpPr>
            <a:spLocks noGrp="1"/>
          </p:cNvSpPr>
          <p:nvPr>
            <p:ph type="body" sz="quarter" idx="13" hasCustomPrompt="1"/>
          </p:nvPr>
        </p:nvSpPr>
        <p:spPr>
          <a:xfrm>
            <a:off x="560197" y="3198171"/>
            <a:ext cx="2936041" cy="5078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None/>
              <a:defRPr sz="2700" b="1">
                <a:solidFill>
                  <a:srgbClr val="0055BB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314614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Шапка с логотипом без коня (синя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rgbClr val="005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bg1"/>
              </a:solidFill>
            </a:endParaRPr>
          </a:p>
        </p:txBody>
      </p: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2763" y="170399"/>
            <a:ext cx="1656000" cy="8832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780" t="32381" r="-4361" b="40680"/>
          <a:stretch/>
        </p:blipFill>
        <p:spPr>
          <a:xfrm>
            <a:off x="1" y="1269810"/>
            <a:ext cx="982787" cy="150548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6" t="1513" r="20843" b="88431"/>
          <a:stretch/>
        </p:blipFill>
        <p:spPr>
          <a:xfrm>
            <a:off x="1" y="6296029"/>
            <a:ext cx="982787" cy="56197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48" t="45097" r="86065" b="31852"/>
          <a:stretch/>
        </p:blipFill>
        <p:spPr>
          <a:xfrm>
            <a:off x="11703437" y="3382264"/>
            <a:ext cx="491219" cy="1288239"/>
          </a:xfrm>
          <a:prstGeom prst="rect">
            <a:avLst/>
          </a:prstGeom>
        </p:spPr>
      </p:pic>
      <p:sp>
        <p:nvSpPr>
          <p:cNvPr id="15" name="Заголовок 14"/>
          <p:cNvSpPr>
            <a:spLocks noGrp="1"/>
          </p:cNvSpPr>
          <p:nvPr>
            <p:ph type="title"/>
          </p:nvPr>
        </p:nvSpPr>
        <p:spPr>
          <a:xfrm>
            <a:off x="559574" y="412962"/>
            <a:ext cx="9173513" cy="415498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defRPr sz="21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9"/>
          <p:cNvSpPr>
            <a:spLocks noGrp="1"/>
          </p:cNvSpPr>
          <p:nvPr>
            <p:ph type="body" sz="quarter" idx="10" hasCustomPrompt="1"/>
          </p:nvPr>
        </p:nvSpPr>
        <p:spPr>
          <a:xfrm>
            <a:off x="559574" y="1729295"/>
            <a:ext cx="1348447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None/>
              <a:defRPr sz="1200" b="1">
                <a:solidFill>
                  <a:srgbClr val="00BBEE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defRPr sz="105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26"/>
          <p:cNvSpPr>
            <a:spLocks noGrp="1"/>
          </p:cNvSpPr>
          <p:nvPr>
            <p:ph type="body" sz="quarter" idx="11"/>
          </p:nvPr>
        </p:nvSpPr>
        <p:spPr>
          <a:xfrm>
            <a:off x="559572" y="2409036"/>
            <a:ext cx="1649811" cy="2539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None/>
              <a:defRPr sz="1050">
                <a:solidFill>
                  <a:srgbClr val="222A3F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43DE57E-711D-404D-B188-192C4B659303}"/>
              </a:ext>
            </a:extLst>
          </p:cNvPr>
          <p:cNvSpPr/>
          <p:nvPr userDrawn="1"/>
        </p:nvSpPr>
        <p:spPr>
          <a:xfrm>
            <a:off x="11641138" y="6453189"/>
            <a:ext cx="357790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05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05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2455817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0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4056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7" r:id="rId2"/>
    <p:sldLayoutId id="2147483678" r:id="rId3"/>
    <p:sldLayoutId id="2147483679" r:id="rId4"/>
    <p:sldLayoutId id="2147483680" r:id="rId5"/>
    <p:sldLayoutId id="2147483675" r:id="rId6"/>
    <p:sldLayoutId id="2147483682" r:id="rId7"/>
    <p:sldLayoutId id="2147483681" r:id="rId8"/>
  </p:sldLayoutIdLst>
  <p:hf sldNum="0" hdr="0" ftr="0" dt="0"/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391" userDrawn="1">
          <p15:clr>
            <a:srgbClr val="F26B43"/>
          </p15:clr>
        </p15:guide>
        <p15:guide id="4" orient="horz" pos="4065" userDrawn="1">
          <p15:clr>
            <a:srgbClr val="F26B43"/>
          </p15:clr>
        </p15:guide>
        <p15:guide id="5" pos="347" userDrawn="1">
          <p15:clr>
            <a:srgbClr val="F26B43"/>
          </p15:clr>
        </p15:guide>
        <p15:guide id="6" pos="7333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798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391" userDrawn="1">
          <p15:clr>
            <a:srgbClr val="F26B43"/>
          </p15:clr>
        </p15:guide>
        <p15:guide id="4" orient="horz" pos="4065" userDrawn="1">
          <p15:clr>
            <a:srgbClr val="F26B43"/>
          </p15:clr>
        </p15:guide>
        <p15:guide id="5" pos="347" userDrawn="1">
          <p15:clr>
            <a:srgbClr val="F26B43"/>
          </p15:clr>
        </p15:guide>
        <p15:guide id="6" pos="733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Текст 11"/>
          <p:cNvSpPr>
            <a:spLocks noGrp="1"/>
          </p:cNvSpPr>
          <p:nvPr>
            <p:ph type="body" sz="quarter" idx="11"/>
          </p:nvPr>
        </p:nvSpPr>
        <p:spPr>
          <a:xfrm>
            <a:off x="586005" y="4226526"/>
            <a:ext cx="5814795" cy="2031325"/>
          </a:xfrm>
        </p:spPr>
        <p:txBody>
          <a:bodyPr/>
          <a:lstStyle/>
          <a:p>
            <a:pPr lvl="0">
              <a:spcAft>
                <a:spcPts val="0"/>
              </a:spcAft>
              <a:buClr>
                <a:srgbClr val="A5A5A5"/>
              </a:buClr>
              <a:buSzPts val="1500"/>
            </a:pPr>
            <a:r>
              <a:rPr lang="ru-RU" sz="1800" dirty="0">
                <a:solidFill>
                  <a:srgbClr val="7F7F7F"/>
                </a:solidFill>
              </a:rPr>
              <a:t>Студент: Панченков А.Л., группа ИВТ-42Д</a:t>
            </a:r>
          </a:p>
          <a:p>
            <a:pPr lvl="0">
              <a:spcAft>
                <a:spcPts val="0"/>
              </a:spcAft>
              <a:buClr>
                <a:srgbClr val="A5A5A5"/>
              </a:buClr>
              <a:buSzPts val="1500"/>
            </a:pPr>
            <a:r>
              <a:rPr lang="ru-RU" sz="1800" dirty="0">
                <a:solidFill>
                  <a:srgbClr val="7F7F7F"/>
                </a:solidFill>
              </a:rPr>
              <a:t>Руководитель: Дегтянников И.В., </a:t>
            </a:r>
            <a:r>
              <a:rPr lang="ru-RU" sz="1800" dirty="0">
                <a:solidFill>
                  <a:schemeClr val="bg1">
                    <a:lumMod val="50000"/>
                  </a:schemeClr>
                </a:solidFill>
              </a:rPr>
              <a:t>инженер-программист 2 категории</a:t>
            </a:r>
            <a:r>
              <a:rPr lang="ru-RU" sz="1800" dirty="0">
                <a:solidFill>
                  <a:srgbClr val="7F7F7F"/>
                </a:solidFill>
              </a:rPr>
              <a:t>, Отдел </a:t>
            </a:r>
            <a:r>
              <a:rPr lang="ru-RU" sz="1800" dirty="0" err="1">
                <a:solidFill>
                  <a:srgbClr val="7F7F7F"/>
                </a:solidFill>
              </a:rPr>
              <a:t>УИТиС</a:t>
            </a:r>
            <a:r>
              <a:rPr lang="ru-RU" sz="1800" dirty="0">
                <a:solidFill>
                  <a:srgbClr val="7F7F7F"/>
                </a:solidFill>
              </a:rPr>
              <a:t> «Комбинат «Электрохимприбор»</a:t>
            </a:r>
          </a:p>
          <a:p>
            <a:pPr lvl="0">
              <a:spcAft>
                <a:spcPts val="0"/>
              </a:spcAft>
              <a:buClr>
                <a:srgbClr val="A5A5A5"/>
              </a:buClr>
              <a:buSzPts val="1500"/>
            </a:pPr>
            <a:endParaRPr lang="ru-RU" sz="1800" dirty="0">
              <a:solidFill>
                <a:srgbClr val="7F7F7F"/>
              </a:solidFill>
            </a:endParaRPr>
          </a:p>
          <a:p>
            <a:pPr lvl="0">
              <a:spcAft>
                <a:spcPts val="0"/>
              </a:spcAft>
              <a:buClr>
                <a:srgbClr val="A5A5A5"/>
              </a:buClr>
              <a:buSzPts val="1500"/>
            </a:pPr>
            <a:r>
              <a:rPr lang="ru-RU" sz="1800" dirty="0">
                <a:solidFill>
                  <a:srgbClr val="7F7F7F"/>
                </a:solidFill>
              </a:rPr>
              <a:t>ТИ НИЯУ МИФИ</a:t>
            </a:r>
          </a:p>
          <a:p>
            <a:pPr lvl="0">
              <a:spcAft>
                <a:spcPts val="0"/>
              </a:spcAft>
              <a:buClr>
                <a:srgbClr val="A5A5A5"/>
              </a:buClr>
              <a:buSzPts val="1500"/>
            </a:pPr>
            <a:r>
              <a:rPr lang="ru-RU" sz="1800" dirty="0">
                <a:solidFill>
                  <a:srgbClr val="7F7F7F"/>
                </a:solidFill>
              </a:rPr>
              <a:t>2026 год</a:t>
            </a:r>
          </a:p>
        </p:txBody>
      </p:sp>
      <p:sp>
        <p:nvSpPr>
          <p:cNvPr id="13" name="Текст 12"/>
          <p:cNvSpPr>
            <a:spLocks noGrp="1"/>
          </p:cNvSpPr>
          <p:nvPr>
            <p:ph type="body" sz="quarter" idx="12"/>
          </p:nvPr>
        </p:nvSpPr>
        <p:spPr>
          <a:xfrm>
            <a:off x="186510" y="2861087"/>
            <a:ext cx="10645413" cy="954107"/>
          </a:xfrm>
        </p:spPr>
        <p:txBody>
          <a:bodyPr/>
          <a:lstStyle/>
          <a:p>
            <a:pPr algn="ctr"/>
            <a:r>
              <a:rPr lang="ru-RU" sz="2800" dirty="0">
                <a:solidFill>
                  <a:srgbClr val="0055B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Тема проекта</a:t>
            </a:r>
            <a:r>
              <a:rPr lang="en-US" sz="2800" dirty="0">
                <a:solidFill>
                  <a:srgbClr val="0055B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ru-RU" sz="2800" dirty="0">
                <a:solidFill>
                  <a:srgbClr val="0055B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Разработка приложения «Электронный архив механосборочного цеха» </a:t>
            </a:r>
            <a:endParaRPr lang="ru-RU" sz="2800" b="1" dirty="0">
              <a:solidFill>
                <a:srgbClr val="0055BB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66700" y="230909"/>
            <a:ext cx="3190875" cy="22932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C9BFA03-5C56-F120-9BA0-148CE866D3C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4" t="2851" r="24260" b="6526"/>
          <a:stretch/>
        </p:blipFill>
        <p:spPr>
          <a:xfrm>
            <a:off x="266700" y="430319"/>
            <a:ext cx="2341620" cy="174653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5410" y="703221"/>
            <a:ext cx="1973586" cy="1200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292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0723" y="106114"/>
            <a:ext cx="2362246" cy="975055"/>
          </a:xfrm>
          <a:prstGeom prst="rect">
            <a:avLst/>
          </a:prstGeom>
        </p:spPr>
      </p:pic>
      <p:sp>
        <p:nvSpPr>
          <p:cNvPr id="2" name="Текст 1"/>
          <p:cNvSpPr>
            <a:spLocks noGrp="1"/>
          </p:cNvSpPr>
          <p:nvPr>
            <p:ph type="body" sz="quarter" idx="10"/>
          </p:nvPr>
        </p:nvSpPr>
        <p:spPr>
          <a:xfrm>
            <a:off x="559573" y="1755928"/>
            <a:ext cx="11443396" cy="3003386"/>
          </a:xfrm>
        </p:spPr>
        <p:txBody>
          <a:bodyPr/>
          <a:lstStyle/>
          <a:p>
            <a:r>
              <a:rPr lang="ru-RU" sz="2000" dirty="0"/>
              <a:t>Проблема:</a:t>
            </a:r>
            <a:endParaRPr lang="ru-RU" sz="2000" b="0" dirty="0"/>
          </a:p>
          <a:p>
            <a:pPr marL="914400" lvl="1" indent="-457200">
              <a:buFont typeface="+mj-lt"/>
              <a:buAutoNum type="arabicPeriod"/>
            </a:pPr>
            <a:r>
              <a:rPr lang="ru-RU" sz="2000" dirty="0"/>
              <a:t>Устаревшая система на базе MS Access + MySQL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sz="2000" dirty="0"/>
              <a:t>Зависимость от зарубежного ПО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sz="2000" dirty="0"/>
              <a:t>Технические ограничения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sz="2000" dirty="0"/>
              <a:t>Отсутствие автоматического аудита</a:t>
            </a:r>
          </a:p>
          <a:p>
            <a:r>
              <a:rPr lang="ru-RU" sz="2000" dirty="0"/>
              <a:t>Актуальность:</a:t>
            </a:r>
            <a:endParaRPr lang="ru-RU" sz="2000" b="0" dirty="0"/>
          </a:p>
          <a:p>
            <a:pPr marL="914400" lvl="1" indent="-457200">
              <a:buFont typeface="+mj-lt"/>
              <a:buAutoNum type="arabicPeriod"/>
            </a:pPr>
            <a:r>
              <a:rPr lang="ru-RU" sz="2000" dirty="0"/>
              <a:t>Требования Росатома к импортозамещению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sz="2000" dirty="0"/>
              <a:t>Необходимость перехода на Astra Linux</a:t>
            </a:r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и проблематика</a:t>
            </a:r>
          </a:p>
        </p:txBody>
      </p:sp>
    </p:spTree>
    <p:extLst>
      <p:ext uri="{BB962C8B-B14F-4D97-AF65-F5344CB8AC3E}">
        <p14:creationId xmlns:p14="http://schemas.microsoft.com/office/powerpoint/2010/main" val="1214069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403C6B-D226-AF18-10EF-BD95B9E67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Объект, предмет и цель работы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0186BB6-C789-DA6E-CC96-90248C8D48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9574" y="1729295"/>
            <a:ext cx="11247727" cy="3552254"/>
          </a:xfrm>
        </p:spPr>
        <p:txBody>
          <a:bodyPr/>
          <a:lstStyle/>
          <a:p>
            <a:r>
              <a:rPr lang="ru-RU" sz="2400" dirty="0"/>
              <a:t>Объект:</a:t>
            </a:r>
            <a:r>
              <a:rPr lang="ru-RU" sz="2400" b="0" dirty="0"/>
              <a:t> Деятельность механосборочного цеха ФГУП «Комбинат «Электрохимприбор» по работе с технической документацией</a:t>
            </a:r>
          </a:p>
          <a:p>
            <a:endParaRPr lang="ru-RU" sz="2400" b="0" dirty="0"/>
          </a:p>
          <a:p>
            <a:r>
              <a:rPr lang="ru-RU" sz="2400" dirty="0"/>
              <a:t>Предмет:</a:t>
            </a:r>
            <a:r>
              <a:rPr lang="ru-RU" sz="2400" b="0" dirty="0"/>
              <a:t> Процесс организации электронного архива метаданных документов</a:t>
            </a:r>
            <a:r>
              <a:rPr lang="en-US" sz="2400" b="0" dirty="0"/>
              <a:t>,</a:t>
            </a:r>
            <a:r>
              <a:rPr lang="ru-RU" sz="2400" b="0" dirty="0"/>
              <a:t> извещений</a:t>
            </a:r>
            <a:r>
              <a:rPr lang="en-US" sz="2400" b="0" dirty="0"/>
              <a:t>,</a:t>
            </a:r>
            <a:r>
              <a:rPr lang="ru-RU" sz="2400" b="0" dirty="0"/>
              <a:t> деталей</a:t>
            </a:r>
          </a:p>
          <a:p>
            <a:endParaRPr lang="ru-RU" sz="2400" dirty="0"/>
          </a:p>
          <a:p>
            <a:r>
              <a:rPr lang="ru-RU" sz="2400" dirty="0"/>
              <a:t>Цель:</a:t>
            </a:r>
            <a:r>
              <a:rPr lang="ru-RU" sz="2400" b="0" dirty="0"/>
              <a:t> Разработка десктопного приложения «Электронный архив для механосборочного цеха»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5743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B5882A-4929-DEB2-F5B3-F7B69260D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существующего решения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FE1CB06-B8AE-AE15-D3E9-6B9E60476A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9574" y="1729295"/>
            <a:ext cx="7501350" cy="972061"/>
          </a:xfrm>
        </p:spPr>
        <p:txBody>
          <a:bodyPr/>
          <a:lstStyle/>
          <a:p>
            <a:r>
              <a:rPr lang="ru-RU" sz="2650" b="0" dirty="0">
                <a:solidFill>
                  <a:srgbClr val="00BBEE"/>
                </a:solidFill>
              </a:rPr>
              <a:t>Недостатки существующего ПО</a:t>
            </a:r>
            <a:r>
              <a:rPr lang="en-US" sz="2650" b="0" dirty="0">
                <a:solidFill>
                  <a:srgbClr val="00BBEE"/>
                </a:solidFill>
              </a:rPr>
              <a:t>:</a:t>
            </a:r>
            <a:endParaRPr lang="ru-RU" sz="2650" b="0" dirty="0">
              <a:solidFill>
                <a:srgbClr val="00BBEE"/>
              </a:solidFill>
            </a:endParaRPr>
          </a:p>
          <a:p>
            <a:pPr lvl="1" indent="0">
              <a:buNone/>
            </a:pPr>
            <a:endParaRPr lang="ru-RU" sz="2500" b="0" dirty="0">
              <a:solidFill>
                <a:srgbClr val="00BBEE"/>
              </a:solidFill>
            </a:endParaRP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48C4FB8-7FC9-B70C-1BB3-3132041D8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8160429"/>
              </p:ext>
            </p:extLst>
          </p:nvPr>
        </p:nvGraphicFramePr>
        <p:xfrm>
          <a:off x="2032000" y="2701356"/>
          <a:ext cx="8128000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28587049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41934498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chemeClr val="bg1"/>
                          </a:solidFill>
                        </a:rPr>
                        <a:t>Категория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chemeClr val="bg1"/>
                          </a:solidFill>
                        </a:rPr>
                        <a:t>Проблема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19691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0061AF"/>
                          </a:solidFill>
                          <a:latin typeface="Montserrat" panose="00000500000000000000" pitchFamily="2" charset="0"/>
                        </a:rPr>
                        <a:t>Архитектура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rgbClr val="0061AF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отсутствие асинхронности</a:t>
                      </a:r>
                      <a:endParaRPr lang="ru-RU" dirty="0">
                        <a:solidFill>
                          <a:srgbClr val="0061AF"/>
                        </a:solidFill>
                        <a:latin typeface="Montserrat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070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0061AF"/>
                          </a:solidFill>
                          <a:latin typeface="Montserrat" panose="00000500000000000000" pitchFamily="2" charset="0"/>
                        </a:rPr>
                        <a:t>Безопасность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rgbClr val="0061AF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Базовая защита </a:t>
                      </a:r>
                      <a:r>
                        <a:rPr lang="en-US" sz="1800" b="0" i="0" kern="1200" dirty="0">
                          <a:solidFill>
                            <a:srgbClr val="0061AF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MS Access</a:t>
                      </a:r>
                      <a:r>
                        <a:rPr lang="ru-RU" sz="1800" b="0" i="0" kern="1200" dirty="0">
                          <a:solidFill>
                            <a:srgbClr val="0061AF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, передача без шифрования</a:t>
                      </a:r>
                      <a:endParaRPr lang="ru-RU" dirty="0">
                        <a:solidFill>
                          <a:srgbClr val="0061AF"/>
                        </a:solidFill>
                        <a:latin typeface="Montserrat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77931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0061AF"/>
                          </a:solidFill>
                          <a:latin typeface="Montserrat" panose="00000500000000000000" pitchFamily="2" charset="0"/>
                        </a:rPr>
                        <a:t>Производительность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0061AF"/>
                          </a:solidFill>
                          <a:latin typeface="Montserrat" panose="00000500000000000000" pitchFamily="2" charset="0"/>
                        </a:rPr>
                        <a:t>Большое время отклика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5153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0061AF"/>
                          </a:solidFill>
                          <a:latin typeface="Montserrat" panose="00000500000000000000" pitchFamily="2" charset="0"/>
                        </a:rPr>
                        <a:t>Совместимость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rgbClr val="0061AF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Только </a:t>
                      </a:r>
                      <a:r>
                        <a:rPr lang="en-US" sz="1800" b="0" i="0" kern="1200" dirty="0">
                          <a:solidFill>
                            <a:srgbClr val="0061AF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Windows</a:t>
                      </a:r>
                      <a:endParaRPr lang="ru-RU" dirty="0">
                        <a:solidFill>
                          <a:srgbClr val="0061AF"/>
                        </a:solidFill>
                        <a:latin typeface="Montserrat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49426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38535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D5ACAC-83D0-58C6-D111-7274A6C39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574" y="436045"/>
            <a:ext cx="9173513" cy="369332"/>
          </a:xfrm>
        </p:spPr>
        <p:txBody>
          <a:bodyPr/>
          <a:lstStyle/>
          <a:p>
            <a:pPr lvl="1"/>
            <a:r>
              <a:rPr lang="ru-RU" b="1" dirty="0">
                <a:solidFill>
                  <a:schemeClr val="bg1"/>
                </a:solidFill>
              </a:rPr>
              <a:t>Т</a:t>
            </a:r>
            <a:r>
              <a:rPr lang="ru-RU" sz="1800" b="1" dirty="0">
                <a:solidFill>
                  <a:schemeClr val="bg1"/>
                </a:solidFill>
              </a:rPr>
              <a:t>ребований к разрабатываемой системе</a:t>
            </a:r>
            <a:endParaRPr lang="ru-RU" sz="2000" b="1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80DDF2A-402D-3498-3462-27A21FBF8C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9574" y="1729294"/>
            <a:ext cx="8176053" cy="2977738"/>
          </a:xfrm>
        </p:spPr>
        <p:txBody>
          <a:bodyPr/>
          <a:lstStyle/>
          <a:p>
            <a:r>
              <a:rPr lang="ru-RU" sz="2400" dirty="0"/>
              <a:t>Требования</a:t>
            </a:r>
            <a:r>
              <a:rPr lang="en-US" sz="2400" dirty="0"/>
              <a:t>:</a:t>
            </a:r>
            <a:endParaRPr lang="ru-RU" sz="2400" dirty="0"/>
          </a:p>
          <a:p>
            <a:pPr marL="914400" lvl="1">
              <a:buFont typeface="+mj-lt"/>
              <a:buAutoNum type="arabicPeriod"/>
            </a:pPr>
            <a:r>
              <a:rPr lang="ru-RU" sz="2400" dirty="0">
                <a:solidFill>
                  <a:srgbClr val="00BBEE"/>
                </a:solidFill>
              </a:rPr>
              <a:t>Централизованное хранение метаданных</a:t>
            </a:r>
          </a:p>
          <a:p>
            <a:pPr marL="914400" lvl="1">
              <a:buFont typeface="+mj-lt"/>
              <a:buAutoNum type="arabicPeriod"/>
            </a:pPr>
            <a:r>
              <a:rPr lang="ru-RU" sz="2400" dirty="0">
                <a:solidFill>
                  <a:srgbClr val="00BBEE"/>
                </a:solidFill>
              </a:rPr>
              <a:t>Параметрический поиск</a:t>
            </a:r>
          </a:p>
          <a:p>
            <a:pPr marL="914400" lvl="1">
              <a:buFont typeface="+mj-lt"/>
              <a:buAutoNum type="arabicPeriod"/>
            </a:pPr>
            <a:r>
              <a:rPr lang="ru-RU" sz="2400" dirty="0">
                <a:solidFill>
                  <a:srgbClr val="00BBEE"/>
                </a:solidFill>
              </a:rPr>
              <a:t>Автоматизированный журнал аудита</a:t>
            </a:r>
          </a:p>
          <a:p>
            <a:pPr marL="914400" lvl="1">
              <a:buFont typeface="+mj-lt"/>
              <a:buAutoNum type="arabicPeriod"/>
            </a:pPr>
            <a:r>
              <a:rPr lang="ru-RU" sz="2400" dirty="0">
                <a:solidFill>
                  <a:srgbClr val="00BBEE"/>
                </a:solidFill>
              </a:rPr>
              <a:t>Импорт из </a:t>
            </a:r>
            <a:r>
              <a:rPr lang="en-US" sz="2400" dirty="0">
                <a:solidFill>
                  <a:srgbClr val="00BBEE"/>
                </a:solidFill>
              </a:rPr>
              <a:t>MS Access</a:t>
            </a:r>
          </a:p>
          <a:p>
            <a:pPr marL="914400" lvl="1">
              <a:buFont typeface="+mj-lt"/>
              <a:buAutoNum type="arabicPeriod"/>
            </a:pPr>
            <a:r>
              <a:rPr lang="ru-RU" sz="2400" dirty="0">
                <a:solidFill>
                  <a:srgbClr val="00BBEE"/>
                </a:solidFill>
              </a:rPr>
              <a:t>Интуитивно понятный интерфейс</a:t>
            </a:r>
            <a:endParaRPr lang="en-US" sz="2400" dirty="0">
              <a:solidFill>
                <a:srgbClr val="00BBEE"/>
              </a:solidFill>
            </a:endParaRPr>
          </a:p>
          <a:p>
            <a:pPr marL="914400" lvl="1">
              <a:buFont typeface="+mj-lt"/>
              <a:buAutoNum type="arabicPeriod"/>
            </a:pPr>
            <a:endParaRPr lang="ru-RU" sz="1850" dirty="0"/>
          </a:p>
        </p:txBody>
      </p:sp>
    </p:spTree>
    <p:extLst>
      <p:ext uri="{BB962C8B-B14F-4D97-AF65-F5344CB8AC3E}">
        <p14:creationId xmlns:p14="http://schemas.microsoft.com/office/powerpoint/2010/main" val="1244696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1C8E6D-4E42-3D7B-A1BB-187A77E11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Выбор стека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8901AA8-3E3B-E6C4-0E13-9F5558284D6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9573" y="1729295"/>
            <a:ext cx="3497521" cy="978394"/>
          </a:xfrm>
        </p:spPr>
        <p:txBody>
          <a:bodyPr/>
          <a:lstStyle/>
          <a:p>
            <a:r>
              <a:rPr lang="ru-RU" sz="2000" dirty="0"/>
              <a:t>Стек</a:t>
            </a:r>
            <a:r>
              <a:rPr lang="en-US" sz="2000" dirty="0"/>
              <a:t>:</a:t>
            </a:r>
          </a:p>
          <a:p>
            <a:r>
              <a:rPr lang="en-US" sz="2000" dirty="0"/>
              <a:t>	</a:t>
            </a:r>
            <a:endParaRPr lang="ru-RU" sz="2000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2984ED13-7EE5-0926-EF6C-9853A5F458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592812"/>
              </p:ext>
            </p:extLst>
          </p:nvPr>
        </p:nvGraphicFramePr>
        <p:xfrm>
          <a:off x="2032000" y="2316480"/>
          <a:ext cx="8127999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21202509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28888782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406595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dirty="0">
                          <a:effectLst/>
                        </a:rPr>
                        <a:t>Компонент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>
                          <a:effectLst/>
                        </a:rPr>
                        <a:t>Технология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dirty="0">
                          <a:effectLst/>
                        </a:rPr>
                        <a:t>Обоснование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1630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b="1" dirty="0">
                          <a:solidFill>
                            <a:srgbClr val="0061AF"/>
                          </a:solidFill>
                          <a:effectLst/>
                        </a:rPr>
                        <a:t>Язык</a:t>
                      </a:r>
                      <a:endParaRPr lang="ru-RU" dirty="0">
                        <a:solidFill>
                          <a:srgbClr val="0061AF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61AF"/>
                          </a:solidFill>
                          <a:effectLst/>
                        </a:rPr>
                        <a:t>Python 3.9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>
                          <a:solidFill>
                            <a:srgbClr val="0061AF"/>
                          </a:solidFill>
                          <a:effectLst/>
                        </a:rPr>
                        <a:t>Простота, кроссплатформенность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53262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61AF"/>
                          </a:solidFill>
                          <a:effectLst/>
                        </a:rPr>
                        <a:t>GUI</a:t>
                      </a:r>
                      <a:endParaRPr lang="en-US">
                        <a:solidFill>
                          <a:srgbClr val="0061AF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61AF"/>
                          </a:solidFill>
                          <a:effectLst/>
                        </a:rPr>
                        <a:t>PyQt5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>
                          <a:solidFill>
                            <a:srgbClr val="0061AF"/>
                          </a:solidFill>
                          <a:effectLst/>
                        </a:rPr>
                        <a:t>Богатый интерфейс, сигналы/слоты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6232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b="1">
                          <a:solidFill>
                            <a:srgbClr val="0061AF"/>
                          </a:solidFill>
                          <a:effectLst/>
                        </a:rPr>
                        <a:t>Дизайн</a:t>
                      </a:r>
                      <a:endParaRPr lang="ru-RU">
                        <a:solidFill>
                          <a:srgbClr val="0061AF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61AF"/>
                          </a:solidFill>
                          <a:effectLst/>
                        </a:rPr>
                        <a:t>QtDesigner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61AF"/>
                          </a:solidFill>
                          <a:effectLst/>
                        </a:rPr>
                        <a:t>Drag-and-drop, </a:t>
                      </a:r>
                      <a:r>
                        <a:rPr lang="ru-RU" dirty="0">
                          <a:solidFill>
                            <a:srgbClr val="0061AF"/>
                          </a:solidFill>
                          <a:effectLst/>
                        </a:rPr>
                        <a:t>разделение логики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1706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b="1">
                          <a:solidFill>
                            <a:srgbClr val="0061AF"/>
                          </a:solidFill>
                          <a:effectLst/>
                        </a:rPr>
                        <a:t>СУБД</a:t>
                      </a:r>
                      <a:endParaRPr lang="ru-RU">
                        <a:solidFill>
                          <a:srgbClr val="0061AF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61AF"/>
                          </a:solidFill>
                          <a:effectLst/>
                        </a:rPr>
                        <a:t>PostgreSQL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61AF"/>
                          </a:solidFill>
                          <a:effectLst/>
                        </a:rPr>
                        <a:t>Open-source, </a:t>
                      </a:r>
                      <a:r>
                        <a:rPr lang="ru-RU" dirty="0">
                          <a:solidFill>
                            <a:srgbClr val="0061AF"/>
                          </a:solidFill>
                          <a:effectLst/>
                        </a:rPr>
                        <a:t>внешние ключи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36437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b="1">
                          <a:solidFill>
                            <a:srgbClr val="0061AF"/>
                          </a:solidFill>
                          <a:effectLst/>
                        </a:rPr>
                        <a:t>Драйвер</a:t>
                      </a:r>
                      <a:endParaRPr lang="ru-RU">
                        <a:solidFill>
                          <a:srgbClr val="0061AF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61AF"/>
                          </a:solidFill>
                          <a:effectLst/>
                        </a:rPr>
                        <a:t>psycopg2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>
                          <a:solidFill>
                            <a:srgbClr val="0061AF"/>
                          </a:solidFill>
                          <a:effectLst/>
                        </a:rPr>
                        <a:t>Защита от </a:t>
                      </a:r>
                      <a:r>
                        <a:rPr lang="en-US" dirty="0">
                          <a:solidFill>
                            <a:srgbClr val="0061AF"/>
                          </a:solidFill>
                          <a:effectLst/>
                        </a:rPr>
                        <a:t>SQL-</a:t>
                      </a:r>
                      <a:r>
                        <a:rPr lang="ru-RU" dirty="0">
                          <a:solidFill>
                            <a:srgbClr val="0061AF"/>
                          </a:solidFill>
                          <a:effectLst/>
                        </a:rPr>
                        <a:t>инъекций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12278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8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FE940B-02B2-F28C-2F08-182EB8A92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574" y="412962"/>
            <a:ext cx="9173513" cy="415498"/>
          </a:xfrm>
        </p:spPr>
        <p:txBody>
          <a:bodyPr/>
          <a:lstStyle/>
          <a:p>
            <a:r>
              <a:rPr lang="ru-RU" dirty="0"/>
              <a:t>Миграция данных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72896AC0-06CB-D10F-A361-A0813B584C3E}"/>
              </a:ext>
            </a:extLst>
          </p:cNvPr>
          <p:cNvSpPr/>
          <p:nvPr/>
        </p:nvSpPr>
        <p:spPr>
          <a:xfrm>
            <a:off x="769278" y="3071674"/>
            <a:ext cx="2361460" cy="112746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Выгрузка</a:t>
            </a:r>
            <a:r>
              <a:rPr lang="en-US" dirty="0"/>
              <a:t> </a:t>
            </a:r>
            <a:r>
              <a:rPr lang="ru-RU" dirty="0"/>
              <a:t>данных из </a:t>
            </a:r>
            <a:r>
              <a:rPr lang="en-US" dirty="0"/>
              <a:t>MySQL 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933EE907-DF70-2CEF-0A4B-91B9B3B4E59D}"/>
              </a:ext>
            </a:extLst>
          </p:cNvPr>
          <p:cNvSpPr/>
          <p:nvPr/>
        </p:nvSpPr>
        <p:spPr>
          <a:xfrm>
            <a:off x="3659079" y="3071674"/>
            <a:ext cx="2361460" cy="112746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Создание временных таблиц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BEB8AF60-0B53-B15B-D51D-E9561143D029}"/>
              </a:ext>
            </a:extLst>
          </p:cNvPr>
          <p:cNvSpPr/>
          <p:nvPr/>
        </p:nvSpPr>
        <p:spPr>
          <a:xfrm>
            <a:off x="6548880" y="3071674"/>
            <a:ext cx="2361460" cy="112746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Трансформация данных при загрузки в временные таблицы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50164531-8EFC-BF3B-E501-FFD7C8339011}"/>
              </a:ext>
            </a:extLst>
          </p:cNvPr>
          <p:cNvSpPr/>
          <p:nvPr/>
        </p:nvSpPr>
        <p:spPr>
          <a:xfrm>
            <a:off x="9438681" y="3071674"/>
            <a:ext cx="2361460" cy="112746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Перенос из временных таблиц в основные</a:t>
            </a:r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EEEDF176-BF00-6814-D96F-3EDBABBD855C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130738" y="3635406"/>
            <a:ext cx="52834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452373B4-EC17-E442-D16C-661D0DBF7C0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6020539" y="3635406"/>
            <a:ext cx="52834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4EDA506F-BF03-EB48-4AB0-E4169FB19205}"/>
              </a:ext>
            </a:extLst>
          </p:cNvPr>
          <p:cNvCxnSpPr>
            <a:cxnSpLocks/>
          </p:cNvCxnSpPr>
          <p:nvPr/>
        </p:nvCxnSpPr>
        <p:spPr>
          <a:xfrm>
            <a:off x="8910340" y="3635406"/>
            <a:ext cx="52834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59169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DBBEF1-2F25-5505-383A-EEF0F1289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574" y="412962"/>
            <a:ext cx="9173513" cy="415498"/>
          </a:xfrm>
        </p:spPr>
        <p:txBody>
          <a:bodyPr/>
          <a:lstStyle/>
          <a:p>
            <a:r>
              <a:rPr lang="ru-RU" dirty="0"/>
              <a:t>Пользовательский интерфейс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1887A23-DB8D-4EF1-E793-7CEEC4484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510" y="1686757"/>
            <a:ext cx="4318261" cy="3389866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A400AF4-567E-1542-77AA-F0F00A34D3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287" y="1686757"/>
            <a:ext cx="6743203" cy="3389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755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F8EAAE-71C6-352A-F486-42173F10E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574" y="251379"/>
            <a:ext cx="9173513" cy="738664"/>
          </a:xfrm>
        </p:spPr>
        <p:txBody>
          <a:bodyPr/>
          <a:lstStyle/>
          <a:p>
            <a:r>
              <a:rPr lang="ru-RU" dirty="0"/>
              <a:t>Результаты и выводы</a:t>
            </a:r>
            <a:br>
              <a:rPr lang="ru-RU" dirty="0"/>
            </a:b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A7B9793-DA87-8E17-D127-62B1E17C47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9574" y="1729295"/>
            <a:ext cx="9063820" cy="4769159"/>
          </a:xfrm>
        </p:spPr>
        <p:txBody>
          <a:bodyPr/>
          <a:lstStyle/>
          <a:p>
            <a:r>
              <a:rPr lang="ru-RU" sz="2000" dirty="0"/>
              <a:t>Результаты работы:</a:t>
            </a:r>
          </a:p>
          <a:p>
            <a:pPr marL="914400" lvl="1">
              <a:buFont typeface="+mj-lt"/>
              <a:buAutoNum type="arabicPeriod"/>
            </a:pPr>
            <a:r>
              <a:rPr lang="ru-RU" sz="2000" b="0" dirty="0">
                <a:solidFill>
                  <a:srgbClr val="00BBEE"/>
                </a:solidFill>
              </a:rPr>
              <a:t>Разработано </a:t>
            </a:r>
            <a:r>
              <a:rPr lang="ru-RU" sz="2000" b="0" dirty="0" err="1">
                <a:solidFill>
                  <a:srgbClr val="00BBEE"/>
                </a:solidFill>
              </a:rPr>
              <a:t>импортонезависимое</a:t>
            </a:r>
            <a:r>
              <a:rPr lang="ru-RU" sz="2000" b="0" dirty="0">
                <a:solidFill>
                  <a:srgbClr val="00BBEE"/>
                </a:solidFill>
              </a:rPr>
              <a:t> приложение</a:t>
            </a:r>
          </a:p>
          <a:p>
            <a:pPr marL="914400" lvl="1">
              <a:buFont typeface="+mj-lt"/>
              <a:buAutoNum type="arabicPeriod"/>
            </a:pPr>
            <a:r>
              <a:rPr lang="ru-RU" sz="2000" b="0" dirty="0">
                <a:solidFill>
                  <a:srgbClr val="00BBEE"/>
                </a:solidFill>
              </a:rPr>
              <a:t>Реализована миграция данных из MySQL в </a:t>
            </a:r>
            <a:r>
              <a:rPr lang="ru-RU" sz="2000" b="0" dirty="0" err="1">
                <a:solidFill>
                  <a:srgbClr val="00BBEE"/>
                </a:solidFill>
              </a:rPr>
              <a:t>PostgreSQL</a:t>
            </a:r>
            <a:endParaRPr lang="ru-RU" sz="2000" b="0" dirty="0">
              <a:solidFill>
                <a:srgbClr val="00BBEE"/>
              </a:solidFill>
            </a:endParaRPr>
          </a:p>
          <a:p>
            <a:pPr marL="914400" lvl="1">
              <a:buFont typeface="+mj-lt"/>
              <a:buAutoNum type="arabicPeriod"/>
            </a:pPr>
            <a:r>
              <a:rPr lang="ru-RU" sz="2000" b="0" dirty="0">
                <a:solidFill>
                  <a:srgbClr val="00BBEE"/>
                </a:solidFill>
              </a:rPr>
              <a:t>Создана нормализованная структура БД</a:t>
            </a:r>
          </a:p>
          <a:p>
            <a:pPr marL="914400" lvl="1">
              <a:buFont typeface="+mj-lt"/>
              <a:buAutoNum type="arabicPeriod"/>
            </a:pPr>
            <a:r>
              <a:rPr lang="ru-RU" sz="2000" b="0" dirty="0">
                <a:solidFill>
                  <a:srgbClr val="00BBEE"/>
                </a:solidFill>
              </a:rPr>
              <a:t>Внедрена система аудита действий</a:t>
            </a:r>
            <a:br>
              <a:rPr lang="ru-RU" sz="2000" b="0" dirty="0">
                <a:solidFill>
                  <a:srgbClr val="00BBEE"/>
                </a:solidFill>
              </a:rPr>
            </a:br>
            <a:r>
              <a:rPr lang="ru-RU" sz="2000" b="0" dirty="0">
                <a:solidFill>
                  <a:srgbClr val="00BBEE"/>
                </a:solidFill>
              </a:rPr>
              <a:t>Обеспечена совместимость с Astra Linux</a:t>
            </a:r>
            <a:endParaRPr lang="en-US" sz="2000" dirty="0">
              <a:solidFill>
                <a:srgbClr val="00BBEE"/>
              </a:solidFill>
            </a:endParaRPr>
          </a:p>
          <a:p>
            <a:pPr marL="914400" lvl="1">
              <a:buFont typeface="+mj-lt"/>
              <a:buAutoNum type="arabicPeriod"/>
            </a:pPr>
            <a:endParaRPr lang="en-US" sz="2000" b="0" dirty="0">
              <a:solidFill>
                <a:srgbClr val="00BBEE"/>
              </a:solidFill>
            </a:endParaRPr>
          </a:p>
          <a:p>
            <a:r>
              <a:rPr lang="ru-RU" sz="2000" dirty="0"/>
              <a:t>Перспективы</a:t>
            </a:r>
            <a:r>
              <a:rPr lang="en-US" sz="2000" dirty="0"/>
              <a:t>:</a:t>
            </a:r>
            <a:endParaRPr lang="ru-RU" sz="2000" dirty="0"/>
          </a:p>
          <a:p>
            <a:pPr marL="800100" lvl="1" indent="-342900">
              <a:buFont typeface="+mj-lt"/>
              <a:buAutoNum type="arabicPeriod"/>
            </a:pPr>
            <a:r>
              <a:rPr lang="ru-RU" sz="2000" dirty="0">
                <a:solidFill>
                  <a:srgbClr val="00BBEE"/>
                </a:solidFill>
              </a:rPr>
              <a:t>Добавление модуля «Анализ»</a:t>
            </a:r>
          </a:p>
          <a:p>
            <a:pPr marL="800100" lvl="1" indent="-342900">
              <a:buFont typeface="+mj-lt"/>
              <a:buAutoNum type="arabicPeriod"/>
            </a:pPr>
            <a:r>
              <a:rPr lang="ru-RU" sz="2000" dirty="0">
                <a:solidFill>
                  <a:srgbClr val="00BBEE"/>
                </a:solidFill>
              </a:rPr>
              <a:t>Создание отчетности через </a:t>
            </a:r>
            <a:r>
              <a:rPr lang="en-US" sz="2000" dirty="0">
                <a:solidFill>
                  <a:srgbClr val="00BBEE"/>
                </a:solidFill>
              </a:rPr>
              <a:t>pdf</a:t>
            </a:r>
            <a:endParaRPr lang="ru-RU" sz="2000" dirty="0">
              <a:solidFill>
                <a:srgbClr val="00BBEE"/>
              </a:solidFill>
            </a:endParaRPr>
          </a:p>
          <a:p>
            <a:r>
              <a:rPr lang="ru-RU" sz="2000" dirty="0"/>
              <a:t>	</a:t>
            </a:r>
          </a:p>
          <a:p>
            <a:pPr lvl="1" indent="0">
              <a:buNone/>
            </a:pPr>
            <a:endParaRPr lang="ru-RU" sz="2000" b="0" dirty="0">
              <a:solidFill>
                <a:srgbClr val="00BBEE"/>
              </a:solidFill>
            </a:endParaRPr>
          </a:p>
          <a:p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298750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5109C6-2EBE-C8BD-CB90-4054B4C2B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внимание!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35F1F5B-4DD3-4910-CA96-A6EDA93BCA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209383" y="3304713"/>
            <a:ext cx="7776558" cy="707886"/>
          </a:xfrm>
        </p:spPr>
        <p:txBody>
          <a:bodyPr/>
          <a:lstStyle/>
          <a:p>
            <a:pPr algn="ctr"/>
            <a:r>
              <a:rPr lang="ru-RU" sz="4000" dirty="0"/>
              <a:t>Спасибо за внимание!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42F3F35-928E-89DB-B368-D46A16DDC21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9715763"/>
      </p:ext>
    </p:extLst>
  </p:cSld>
  <p:clrMapOvr>
    <a:masterClrMapping/>
  </p:clrMapOvr>
</p:sld>
</file>

<file path=ppt/theme/theme1.xml><?xml version="1.0" encoding="utf-8"?>
<a:theme xmlns:a="http://schemas.openxmlformats.org/drawingml/2006/main" name="Шаблон МИФИ">
  <a:themeElements>
    <a:clrScheme name="Другая 7">
      <a:dk1>
        <a:srgbClr val="171616"/>
      </a:dk1>
      <a:lt1>
        <a:srgbClr val="FFFFFF"/>
      </a:lt1>
      <a:dk2>
        <a:srgbClr val="0055BB"/>
      </a:dk2>
      <a:lt2>
        <a:srgbClr val="E2E2E2"/>
      </a:lt2>
      <a:accent1>
        <a:srgbClr val="0055BB"/>
      </a:accent1>
      <a:accent2>
        <a:srgbClr val="00BBEE"/>
      </a:accent2>
      <a:accent3>
        <a:srgbClr val="FF5000"/>
      </a:accent3>
      <a:accent4>
        <a:srgbClr val="00B050"/>
      </a:accent4>
      <a:accent5>
        <a:srgbClr val="00FFCC"/>
      </a:accent5>
      <a:accent6>
        <a:srgbClr val="FF66CC"/>
      </a:accent6>
      <a:hlink>
        <a:srgbClr val="00BBEE"/>
      </a:hlink>
      <a:folHlink>
        <a:srgbClr val="FFAE89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2800" b="1" dirty="0" smtClean="0">
            <a:solidFill>
              <a:schemeClr val="bg1"/>
            </a:solidFill>
            <a:latin typeface="Montserrat" panose="00000500000000000000" pitchFamily="2" charset="-5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Шаблон МИФИ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12932</TotalTime>
  <Words>287</Words>
  <Application>Microsoft Office PowerPoint</Application>
  <PresentationFormat>Широкоэкранный</PresentationFormat>
  <Paragraphs>82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10</vt:i4>
      </vt:variant>
    </vt:vector>
  </HeadingPairs>
  <TitlesOfParts>
    <vt:vector size="17" baseType="lpstr">
      <vt:lpstr>Arial</vt:lpstr>
      <vt:lpstr>Calibri Light</vt:lpstr>
      <vt:lpstr>Times New Roman</vt:lpstr>
      <vt:lpstr>Montserrat</vt:lpstr>
      <vt:lpstr>Calibri</vt:lpstr>
      <vt:lpstr>Шаблон МИФИ</vt:lpstr>
      <vt:lpstr>1_Шаблон МИФИ</vt:lpstr>
      <vt:lpstr>Презентация PowerPoint</vt:lpstr>
      <vt:lpstr>Актуальность и проблематика</vt:lpstr>
      <vt:lpstr>Объект, предмет и цель работы</vt:lpstr>
      <vt:lpstr>Анализ существующего решения</vt:lpstr>
      <vt:lpstr>Требований к разрабатываемой системе</vt:lpstr>
      <vt:lpstr>Выбор стека</vt:lpstr>
      <vt:lpstr>Миграция данных</vt:lpstr>
      <vt:lpstr>Пользовательский интерфейс</vt:lpstr>
      <vt:lpstr>Результаты и выводы 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Влад Замахаев</dc:creator>
  <cp:lastModifiedBy>саша паннченков</cp:lastModifiedBy>
  <cp:revision>311</cp:revision>
  <dcterms:created xsi:type="dcterms:W3CDTF">2020-05-28T16:18:16Z</dcterms:created>
  <dcterms:modified xsi:type="dcterms:W3CDTF">2026-06-07T14:14:10Z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fs.IsStoryboard">
    <vt:bool>true</vt:bool>
  </property>
</Properties>
</file>